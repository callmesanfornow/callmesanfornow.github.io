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4"/>
  </p:notesMasterIdLst>
  <p:sldIdLst>
    <p:sldId id="256" r:id="rId2"/>
    <p:sldId id="257" r:id="rId3"/>
    <p:sldId id="258" r:id="rId4"/>
    <p:sldId id="283" r:id="rId5"/>
    <p:sldId id="284" r:id="rId6"/>
    <p:sldId id="285" r:id="rId7"/>
    <p:sldId id="259" r:id="rId8"/>
    <p:sldId id="269" r:id="rId9"/>
    <p:sldId id="260" r:id="rId10"/>
    <p:sldId id="261" r:id="rId11"/>
    <p:sldId id="270" r:id="rId12"/>
    <p:sldId id="271" r:id="rId13"/>
    <p:sldId id="262" r:id="rId14"/>
    <p:sldId id="263" r:id="rId15"/>
    <p:sldId id="272" r:id="rId16"/>
    <p:sldId id="273" r:id="rId17"/>
    <p:sldId id="264" r:id="rId18"/>
    <p:sldId id="265" r:id="rId19"/>
    <p:sldId id="274" r:id="rId20"/>
    <p:sldId id="275" r:id="rId21"/>
    <p:sldId id="286" r:id="rId22"/>
    <p:sldId id="287" r:id="rId23"/>
    <p:sldId id="276" r:id="rId24"/>
    <p:sldId id="277" r:id="rId25"/>
    <p:sldId id="278" r:id="rId26"/>
    <p:sldId id="279" r:id="rId27"/>
    <p:sldId id="266" r:id="rId28"/>
    <p:sldId id="267" r:id="rId29"/>
    <p:sldId id="280" r:id="rId30"/>
    <p:sldId id="281" r:id="rId31"/>
    <p:sldId id="282" r:id="rId32"/>
    <p:sldId id="268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C721E9-4DFD-4F99-9C62-1DE96520B646}" v="645" dt="2025-12-10T10:54:46.6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64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88C1-5252-4F79-A042-CC0E4EC37683}" type="datetimeFigureOut">
              <a:t>30/09/2026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B79DAA-901A-49C6-966C-F19D68B13426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792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Introduce, the title and the lab and authors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79DAA-901A-49C6-966C-F19D68B13426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6561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79DAA-901A-49C6-966C-F19D68B13426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6654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If you do not know who this is, you probably live under a rock or you have not given into peer pressure, yet.  Kudos to you.</a:t>
            </a:r>
          </a:p>
          <a:p>
            <a:r>
              <a:rPr lang="en-US" dirty="0">
                <a:ea typeface="Calibri"/>
                <a:cs typeface="Calibri"/>
              </a:rPr>
              <a:t>For those who do know, please give me 2 minutes to geek out about this movie.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 err="1">
                <a:ea typeface="Calibri"/>
                <a:cs typeface="Calibri"/>
              </a:rPr>
              <a:t>Kpop</a:t>
            </a:r>
            <a:r>
              <a:rPr lang="en-US" dirty="0">
                <a:ea typeface="Calibri"/>
                <a:cs typeface="Calibri"/>
              </a:rPr>
              <a:t> demon hunters. A simple fantasy movie about 3 girls fighting demons while being a </a:t>
            </a:r>
            <a:r>
              <a:rPr lang="en-US" dirty="0" err="1">
                <a:ea typeface="Calibri"/>
                <a:cs typeface="Calibri"/>
              </a:rPr>
              <a:t>kpop</a:t>
            </a:r>
            <a:r>
              <a:rPr lang="en-US" dirty="0">
                <a:ea typeface="Calibri"/>
                <a:cs typeface="Calibri"/>
              </a:rPr>
              <a:t> idol, when the actual lead singer herself is a demon.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Big hit movie for </a:t>
            </a:r>
            <a:r>
              <a:rPr lang="en-US" dirty="0" err="1">
                <a:ea typeface="Calibri"/>
                <a:cs typeface="Calibri"/>
              </a:rPr>
              <a:t>netflix</a:t>
            </a:r>
            <a:r>
              <a:rPr lang="en-US" dirty="0">
                <a:ea typeface="Calibri"/>
                <a:cs typeface="Calibri"/>
              </a:rPr>
              <a:t>. The sequel movie is scheduled for 2027.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But not only that, (next slide)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79DAA-901A-49C6-966C-F19D68B13426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2434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The soundtrack from the movie was on the billboard charts for weeks and was recently nominated for 3 golden globes, including best original sound track for the song GOLDEN.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Ever since the "Hallyu" wave has started peaking, even billboard has given into this growth and started a separate </a:t>
            </a:r>
            <a:r>
              <a:rPr lang="en-US" dirty="0" err="1">
                <a:ea typeface="Calibri"/>
                <a:cs typeface="Calibri"/>
              </a:rPr>
              <a:t>k-pop</a:t>
            </a:r>
            <a:r>
              <a:rPr lang="en-US" dirty="0">
                <a:ea typeface="Calibri"/>
                <a:cs typeface="Calibri"/>
              </a:rPr>
              <a:t> music chart to track global metrics for songs from </a:t>
            </a:r>
            <a:r>
              <a:rPr lang="en-US" dirty="0" err="1">
                <a:ea typeface="Calibri"/>
                <a:cs typeface="Calibri"/>
              </a:rPr>
              <a:t>k-pop</a:t>
            </a:r>
            <a:r>
              <a:rPr lang="en-US" dirty="0">
                <a:ea typeface="Calibri"/>
                <a:cs typeface="Calibri"/>
              </a:rPr>
              <a:t> groups.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79DAA-901A-49C6-966C-F19D68B13426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79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While it has become popular, there have been several instances in the past that have shown </a:t>
            </a:r>
            <a:r>
              <a:rPr lang="en-US" dirty="0" err="1">
                <a:ea typeface="Calibri"/>
                <a:cs typeface="Calibri"/>
              </a:rPr>
              <a:t>k-pop</a:t>
            </a:r>
            <a:r>
              <a:rPr lang="en-US" dirty="0">
                <a:ea typeface="Calibri"/>
                <a:cs typeface="Calibri"/>
              </a:rPr>
              <a:t> to be very successful in the western market, with bright colorful visuals, a mix of 3-4 genres in one song and other such distinct quirks.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We have the </a:t>
            </a:r>
            <a:r>
              <a:rPr lang="en-US" dirty="0" err="1">
                <a:ea typeface="Calibri"/>
                <a:cs typeface="Calibri"/>
              </a:rPr>
              <a:t>k-pop</a:t>
            </a:r>
            <a:r>
              <a:rPr lang="en-US" dirty="0">
                <a:ea typeface="Calibri"/>
                <a:cs typeface="Calibri"/>
              </a:rPr>
              <a:t> superpower groups BTS and BLACKPINK charting way back in 2016 and 2018.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79DAA-901A-49C6-966C-F19D68B13426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7671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This lead to a rapid expansion to the western markets and start tracking on billboard very early on and one thing we stuck with in our work, was the lyrics. </a:t>
            </a:r>
          </a:p>
          <a:p>
            <a:r>
              <a:rPr lang="en-US" dirty="0">
                <a:ea typeface="Calibri"/>
                <a:cs typeface="Calibri"/>
              </a:rPr>
              <a:t>Very clear that they mix </a:t>
            </a:r>
            <a:r>
              <a:rPr lang="en-US" dirty="0" err="1">
                <a:ea typeface="Calibri"/>
                <a:cs typeface="Calibri"/>
              </a:rPr>
              <a:t>korean</a:t>
            </a:r>
            <a:r>
              <a:rPr lang="en-US" dirty="0">
                <a:ea typeface="Calibri"/>
                <a:cs typeface="Calibri"/>
              </a:rPr>
              <a:t> and </a:t>
            </a:r>
            <a:r>
              <a:rPr lang="en-US" dirty="0" err="1">
                <a:ea typeface="Calibri"/>
                <a:cs typeface="Calibri"/>
              </a:rPr>
              <a:t>english</a:t>
            </a:r>
            <a:r>
              <a:rPr lang="en-US" dirty="0">
                <a:ea typeface="Calibri"/>
                <a:cs typeface="Calibri"/>
              </a:rPr>
              <a:t> for the global vibe and easy sing along. </a:t>
            </a:r>
          </a:p>
          <a:p>
            <a:r>
              <a:rPr lang="en-US" dirty="0">
                <a:ea typeface="Calibri"/>
                <a:cs typeface="Calibri"/>
              </a:rPr>
              <a:t>This paired with the elaborate music videos, dances and INSANE genre switches, it gives a certain charisma that appeals to a much larger global audience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79DAA-901A-49C6-966C-F19D68B13426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024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We observed in our work that code switching has become more of a norm and there is a lack of "computational" analysis on this field that is gaining massive attraction on a global scale.</a:t>
            </a:r>
          </a:p>
          <a:p>
            <a:r>
              <a:rPr lang="en-US" dirty="0">
                <a:ea typeface="Calibri"/>
                <a:cs typeface="Calibri"/>
              </a:rPr>
              <a:t>We tried to answer 3 main research questions. That is,</a:t>
            </a:r>
          </a:p>
          <a:p>
            <a:pPr marL="628650" lvl="1" indent="-38354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Arial"/>
              <a:buChar char="•"/>
            </a:pPr>
            <a:r>
              <a:rPr lang="en-US" i="1">
                <a:solidFill>
                  <a:srgbClr val="191B0E"/>
                </a:solidFill>
              </a:rPr>
              <a:t>Do male vs. female performers differ in English/Korean usage?</a:t>
            </a:r>
            <a:endParaRPr lang="en-US"/>
          </a:p>
          <a:p>
            <a:pPr marL="628650" lvl="1" indent="-38354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Arial"/>
              <a:buChar char="•"/>
            </a:pPr>
            <a:r>
              <a:rPr lang="en-US" i="1">
                <a:solidFill>
                  <a:srgbClr val="191B0E"/>
                </a:solidFill>
              </a:rPr>
              <a:t>Does code-switching differ by gender or chart type?</a:t>
            </a:r>
            <a:endParaRPr lang="en-US"/>
          </a:p>
          <a:p>
            <a:pPr marL="628650" lvl="1" indent="-38354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Arial"/>
              <a:buChar char="•"/>
            </a:pPr>
            <a:r>
              <a:rPr lang="en-US" i="1">
                <a:solidFill>
                  <a:srgbClr val="191B0E"/>
                </a:solidFill>
              </a:rPr>
              <a:t>Can performer gender be predicted purely from lyrics?</a:t>
            </a:r>
            <a:endParaRPr lang="en-US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79DAA-901A-49C6-966C-F19D68B13426}" type="slidenum"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4304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So, a little bit about what code switching and code mixing are. Sometimes they are used interchangeably in computational linguistics, even though there is a slight yet significant difference. 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CS is when you alternate between languages at boundaries. A common example is Indian English and even some accents from </a:t>
            </a:r>
            <a:r>
              <a:rPr lang="en-US" dirty="0" err="1">
                <a:ea typeface="Calibri"/>
                <a:cs typeface="Calibri"/>
              </a:rPr>
              <a:t>britan</a:t>
            </a:r>
            <a:r>
              <a:rPr lang="en-US" dirty="0">
                <a:ea typeface="Calibri"/>
                <a:cs typeface="Calibri"/>
              </a:rPr>
              <a:t>. We use "no" to signal a question. For example, "the weather is nice, no?" "It’s a bit chilly out there, no?"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Code mixing is when you blend languages within phrases. Examples are language forms like franglais, </a:t>
            </a:r>
            <a:r>
              <a:rPr lang="en-US" dirty="0" err="1">
                <a:ea typeface="Calibri"/>
                <a:cs typeface="Calibri"/>
              </a:rPr>
              <a:t>hinglish</a:t>
            </a:r>
            <a:r>
              <a:rPr lang="en-US" dirty="0">
                <a:ea typeface="Calibri"/>
                <a:cs typeface="Calibri"/>
              </a:rPr>
              <a:t> (</a:t>
            </a:r>
            <a:r>
              <a:rPr lang="en-US" dirty="0" err="1">
                <a:ea typeface="Calibri"/>
                <a:cs typeface="Calibri"/>
              </a:rPr>
              <a:t>hindi+english</a:t>
            </a:r>
            <a:r>
              <a:rPr lang="en-US" dirty="0">
                <a:ea typeface="Calibri"/>
                <a:cs typeface="Calibri"/>
              </a:rPr>
              <a:t>) and even whole languages like </a:t>
            </a:r>
            <a:r>
              <a:rPr lang="en-US" dirty="0" err="1">
                <a:ea typeface="Calibri"/>
                <a:cs typeface="Calibri"/>
              </a:rPr>
              <a:t>tagalog</a:t>
            </a:r>
            <a:r>
              <a:rPr lang="en-US" dirty="0">
                <a:ea typeface="Calibri"/>
                <a:cs typeface="Calibri"/>
              </a:rPr>
              <a:t>.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 err="1">
                <a:ea typeface="Calibri"/>
                <a:cs typeface="Calibri"/>
              </a:rPr>
              <a:t>Kpop</a:t>
            </a:r>
            <a:r>
              <a:rPr lang="en-US" dirty="0">
                <a:ea typeface="Calibri"/>
                <a:cs typeface="Calibri"/>
              </a:rPr>
              <a:t> lyrics typically show inter </a:t>
            </a:r>
            <a:r>
              <a:rPr lang="en-US" dirty="0" err="1">
                <a:ea typeface="Calibri"/>
                <a:cs typeface="Calibri"/>
              </a:rPr>
              <a:t>sentinatal</a:t>
            </a:r>
            <a:r>
              <a:rPr lang="en-US" dirty="0">
                <a:ea typeface="Calibri"/>
                <a:cs typeface="Calibri"/>
              </a:rPr>
              <a:t> and intra </a:t>
            </a:r>
            <a:r>
              <a:rPr lang="en-US" dirty="0" err="1">
                <a:ea typeface="Calibri"/>
                <a:cs typeface="Calibri"/>
              </a:rPr>
              <a:t>sentinetal</a:t>
            </a:r>
            <a:r>
              <a:rPr lang="en-US" dirty="0">
                <a:ea typeface="Calibri"/>
                <a:cs typeface="Calibri"/>
              </a:rPr>
              <a:t> code switching and usage of "tag" switching, with what we call in our work "filler words" like yeah, oh, </a:t>
            </a:r>
            <a:r>
              <a:rPr lang="en-US" dirty="0" err="1">
                <a:ea typeface="Calibri"/>
                <a:cs typeface="Calibri"/>
              </a:rPr>
              <a:t>lessgo</a:t>
            </a:r>
            <a:r>
              <a:rPr lang="en-US" dirty="0">
                <a:ea typeface="Calibri"/>
                <a:cs typeface="Calibri"/>
              </a:rPr>
              <a:t>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79DAA-901A-49C6-966C-F19D68B13426}" type="slidenum"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7504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Here is a snippet from a song to visually show you code switching present in K-Pop. Does anyone know what song this is from? No? </a:t>
            </a:r>
            <a:endParaRPr lang="en-US" dirty="0"/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This song is called Crazy </a:t>
            </a:r>
            <a:r>
              <a:rPr lang="en-US" dirty="0"/>
              <a:t>from a group called LESSERAFIM </a:t>
            </a:r>
            <a:r>
              <a:rPr lang="en-US" dirty="0">
                <a:ea typeface="Calibri"/>
                <a:cs typeface="Calibri"/>
              </a:rPr>
              <a:t>and here is a small section of the song to show how code switching happens in a song. I unfortunately can neither sing nor rap, so excuse me to be unable to put up a performance. But this part comes in a rap section of the song.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79DAA-901A-49C6-966C-F19D68B13426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4901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These code switching practices come in handy in K-Pop to help with emphasis, rhythm (like in the rap section) and catchy hooks. This also signifies </a:t>
            </a:r>
            <a:r>
              <a:rPr lang="en-US" dirty="0" err="1">
                <a:ea typeface="Calibri"/>
                <a:cs typeface="Calibri"/>
              </a:rPr>
              <a:t>globalness</a:t>
            </a:r>
            <a:r>
              <a:rPr lang="en-US" dirty="0">
                <a:ea typeface="Calibri"/>
                <a:cs typeface="Calibri"/>
              </a:rPr>
              <a:t> with the use of </a:t>
            </a:r>
            <a:r>
              <a:rPr lang="en-US" dirty="0" err="1">
                <a:ea typeface="Calibri"/>
                <a:cs typeface="Calibri"/>
              </a:rPr>
              <a:t>english</a:t>
            </a:r>
            <a:r>
              <a:rPr lang="en-US" dirty="0">
                <a:ea typeface="Calibri"/>
                <a:cs typeface="Calibri"/>
              </a:rPr>
              <a:t> in the songs, which in turn influences the billboard chart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79DAA-901A-49C6-966C-F19D68B13426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7751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Popular groups include BTS, BLACKPINK, </a:t>
            </a:r>
            <a:r>
              <a:rPr lang="en-US" dirty="0" err="1">
                <a:ea typeface="Calibri"/>
                <a:cs typeface="Calibri"/>
              </a:rPr>
              <a:t>StrayKids</a:t>
            </a:r>
            <a:r>
              <a:rPr lang="en-US" dirty="0">
                <a:ea typeface="Calibri"/>
                <a:cs typeface="Calibri"/>
              </a:rPr>
              <a:t>  and many more.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79DAA-901A-49C6-966C-F19D68B13426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4460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We curated handcrafted heuristic features such as </a:t>
            </a:r>
            <a:r>
              <a:rPr lang="en-US" dirty="0" err="1">
                <a:ea typeface="Calibri"/>
                <a:cs typeface="Calibri"/>
              </a:rPr>
              <a:t>korean</a:t>
            </a:r>
            <a:r>
              <a:rPr lang="en-US" dirty="0">
                <a:ea typeface="Calibri"/>
                <a:cs typeface="Calibri"/>
              </a:rPr>
              <a:t> and </a:t>
            </a:r>
            <a:r>
              <a:rPr lang="en-US" dirty="0" err="1">
                <a:ea typeface="Calibri"/>
                <a:cs typeface="Calibri"/>
              </a:rPr>
              <a:t>english</a:t>
            </a:r>
            <a:r>
              <a:rPr lang="en-US" dirty="0">
                <a:ea typeface="Calibri"/>
                <a:cs typeface="Calibri"/>
              </a:rPr>
              <a:t> lyric ratio (count </a:t>
            </a:r>
            <a:r>
              <a:rPr lang="en-US" dirty="0" err="1">
                <a:ea typeface="Calibri"/>
                <a:cs typeface="Calibri"/>
              </a:rPr>
              <a:t>english</a:t>
            </a:r>
            <a:r>
              <a:rPr lang="en-US" dirty="0">
                <a:ea typeface="Calibri"/>
                <a:cs typeface="Calibri"/>
              </a:rPr>
              <a:t> and </a:t>
            </a:r>
            <a:r>
              <a:rPr lang="en-US" dirty="0" err="1">
                <a:ea typeface="Calibri"/>
                <a:cs typeface="Calibri"/>
              </a:rPr>
              <a:t>korean</a:t>
            </a:r>
            <a:r>
              <a:rPr lang="en-US" dirty="0">
                <a:ea typeface="Calibri"/>
                <a:cs typeface="Calibri"/>
              </a:rPr>
              <a:t> words and compute ratio), code switch count (which is when we notice there is a language change in the lyric), repetition count, alliteration count (when there is words like wow-wow-wow, du-du-du(</a:t>
            </a:r>
            <a:r>
              <a:rPr lang="en-US" dirty="0" err="1">
                <a:ea typeface="Calibri"/>
                <a:cs typeface="Calibri"/>
              </a:rPr>
              <a:t>blackpink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duddududu</a:t>
            </a:r>
            <a:r>
              <a:rPr lang="en-US" dirty="0">
                <a:ea typeface="Calibri"/>
                <a:cs typeface="Calibri"/>
              </a:rPr>
              <a:t>), pow-pow-pow(stray kids thunderous) </a:t>
            </a:r>
            <a:r>
              <a:rPr lang="en-US" dirty="0" err="1">
                <a:ea typeface="Calibri"/>
                <a:cs typeface="Calibri"/>
              </a:rPr>
              <a:t>etc</a:t>
            </a:r>
            <a:r>
              <a:rPr lang="en-US" dirty="0">
                <a:ea typeface="Calibri"/>
                <a:cs typeface="Calibri"/>
              </a:rPr>
              <a:t>) and filler words like yeah, whoa, </a:t>
            </a:r>
            <a:r>
              <a:rPr lang="en-US" dirty="0" err="1">
                <a:ea typeface="Calibri"/>
                <a:cs typeface="Calibri"/>
              </a:rPr>
              <a:t>whooo</a:t>
            </a:r>
            <a:r>
              <a:rPr lang="en-US" dirty="0">
                <a:ea typeface="Calibri"/>
                <a:cs typeface="Calibri"/>
              </a:rPr>
              <a:t>, la-la etc.</a:t>
            </a:r>
            <a:endParaRPr lang="en-US" dirty="0"/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Then we extracted multilingual embeddings using </a:t>
            </a:r>
            <a:r>
              <a:rPr lang="en-US" dirty="0"/>
              <a:t>ALIBABA's General Text Embedding </a:t>
            </a:r>
            <a:r>
              <a:rPr lang="en-US" err="1"/>
              <a:t>gte</a:t>
            </a:r>
            <a:r>
              <a:rPr lang="en-US" dirty="0"/>
              <a:t>-multilingual-base </a:t>
            </a:r>
            <a:r>
              <a:rPr lang="en-US" dirty="0">
                <a:ea typeface="Calibri"/>
                <a:cs typeface="Calibri"/>
              </a:rPr>
              <a:t>and</a:t>
            </a:r>
            <a:r>
              <a:rPr lang="en-US" dirty="0"/>
              <a:t> </a:t>
            </a:r>
            <a:r>
              <a:rPr lang="en-US" err="1">
                <a:ea typeface="Calibri"/>
                <a:cs typeface="Calibri"/>
              </a:rPr>
              <a:t>xlm-roberta</a:t>
            </a:r>
            <a:r>
              <a:rPr lang="en-US" dirty="0">
                <a:ea typeface="Calibri"/>
                <a:cs typeface="Calibri"/>
              </a:rPr>
              <a:t>.</a:t>
            </a:r>
            <a:endParaRPr lang="en-US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Then we fused the embeddings and classified using logistic regression, random forest, </a:t>
            </a:r>
            <a:r>
              <a:rPr lang="en-US" dirty="0" err="1">
                <a:ea typeface="Calibri"/>
                <a:cs typeface="Calibri"/>
              </a:rPr>
              <a:t>xgboost</a:t>
            </a:r>
            <a:r>
              <a:rPr lang="en-US" dirty="0">
                <a:ea typeface="Calibri"/>
                <a:cs typeface="Calibri"/>
              </a:rPr>
              <a:t> and a voting classifier.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79DAA-901A-49C6-966C-F19D68B13426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7871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Then we used the handcrafted features and performed statistical tests for our hypotheses. </a:t>
            </a:r>
          </a:p>
          <a:p>
            <a:r>
              <a:rPr lang="en-US" dirty="0">
                <a:ea typeface="Calibri"/>
                <a:cs typeface="Calibri"/>
              </a:rPr>
              <a:t>Firstly we performed a normality check with Shapiro-Wilk and Welch's t-test. It revealed that our data was not-normal and had unequal variance.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This led us to choose Mann-Whitney's U for a non-parametric test, with our significance level set to point zero five.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79DAA-901A-49C6-966C-F19D68B13426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7701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These are the hypotheses that we focused on. Comparing boy/girl groups solely as groups and by no means is this a measure of gender biases.</a:t>
            </a:r>
          </a:p>
          <a:p>
            <a:pPr marL="228600" indent="-228600">
              <a:buAutoNum type="arabicPeriod"/>
            </a:pPr>
            <a:r>
              <a:rPr lang="en-US" dirty="0">
                <a:ea typeface="Calibri"/>
                <a:cs typeface="Calibri"/>
              </a:rPr>
              <a:t>What is the ratio of </a:t>
            </a:r>
            <a:r>
              <a:rPr lang="en-US" dirty="0" err="1">
                <a:ea typeface="Calibri"/>
                <a:cs typeface="Calibri"/>
              </a:rPr>
              <a:t>korean</a:t>
            </a:r>
            <a:r>
              <a:rPr lang="en-US" dirty="0">
                <a:ea typeface="Calibri"/>
                <a:cs typeface="Calibri"/>
              </a:rPr>
              <a:t> words to </a:t>
            </a:r>
            <a:r>
              <a:rPr lang="en-US" dirty="0" err="1">
                <a:ea typeface="Calibri"/>
                <a:cs typeface="Calibri"/>
              </a:rPr>
              <a:t>english</a:t>
            </a:r>
            <a:r>
              <a:rPr lang="en-US" dirty="0">
                <a:ea typeface="Calibri"/>
                <a:cs typeface="Calibri"/>
              </a:rPr>
              <a:t> words in boy vs groups </a:t>
            </a:r>
            <a:r>
              <a:rPr lang="en-US" dirty="0" err="1">
                <a:ea typeface="Calibri"/>
                <a:cs typeface="Calibri"/>
              </a:rPr>
              <a:t>groups</a:t>
            </a:r>
            <a:r>
              <a:rPr lang="en-US" dirty="0">
                <a:ea typeface="Calibri"/>
                <a:cs typeface="Calibri"/>
              </a:rPr>
              <a:t>? Does this show if either boy groups or girl groups use more </a:t>
            </a:r>
            <a:r>
              <a:rPr lang="en-US" dirty="0" err="1">
                <a:ea typeface="Calibri"/>
                <a:cs typeface="Calibri"/>
              </a:rPr>
              <a:t>english</a:t>
            </a:r>
            <a:r>
              <a:rPr lang="en-US" dirty="0">
                <a:ea typeface="Calibri"/>
                <a:cs typeface="Calibri"/>
              </a:rPr>
              <a:t> compared to </a:t>
            </a:r>
            <a:r>
              <a:rPr lang="en-US" dirty="0" err="1">
                <a:ea typeface="Calibri"/>
                <a:cs typeface="Calibri"/>
              </a:rPr>
              <a:t>korean</a:t>
            </a:r>
            <a:r>
              <a:rPr lang="en-US" dirty="0">
                <a:ea typeface="Calibri"/>
                <a:cs typeface="Calibri"/>
              </a:rPr>
              <a:t>?</a:t>
            </a:r>
          </a:p>
          <a:p>
            <a:pPr marL="228600" indent="-228600">
              <a:buAutoNum type="arabicPeriod"/>
            </a:pPr>
            <a:r>
              <a:rPr lang="en-US" dirty="0">
                <a:ea typeface="Calibri"/>
                <a:cs typeface="Calibri"/>
              </a:rPr>
              <a:t>Do boy groups tend to use more </a:t>
            </a:r>
            <a:r>
              <a:rPr lang="en-US" err="1">
                <a:ea typeface="Calibri"/>
                <a:cs typeface="Calibri"/>
              </a:rPr>
              <a:t>english</a:t>
            </a:r>
            <a:r>
              <a:rPr lang="en-US" dirty="0">
                <a:ea typeface="Calibri"/>
                <a:cs typeface="Calibri"/>
              </a:rPr>
              <a:t> than </a:t>
            </a:r>
            <a:r>
              <a:rPr lang="en-US" err="1">
                <a:ea typeface="Calibri"/>
                <a:cs typeface="Calibri"/>
              </a:rPr>
              <a:t>korean</a:t>
            </a:r>
            <a:r>
              <a:rPr lang="en-US">
                <a:ea typeface="Calibri"/>
                <a:cs typeface="Calibri"/>
              </a:rPr>
              <a:t> or is it vice versa?</a:t>
            </a:r>
          </a:p>
          <a:p>
            <a:pPr marL="228600" indent="-228600">
              <a:buAutoNum type="arabicPeriod"/>
            </a:pPr>
            <a:r>
              <a:rPr lang="en-US" dirty="0">
                <a:ea typeface="Calibri"/>
                <a:cs typeface="Calibri"/>
              </a:rPr>
              <a:t>Do soloists or group acts use more </a:t>
            </a:r>
            <a:r>
              <a:rPr lang="en-US" err="1">
                <a:ea typeface="Calibri"/>
                <a:cs typeface="Calibri"/>
              </a:rPr>
              <a:t>english</a:t>
            </a:r>
            <a:r>
              <a:rPr lang="en-US">
                <a:ea typeface="Calibri"/>
                <a:cs typeface="Calibri"/>
              </a:rPr>
              <a:t> words?</a:t>
            </a:r>
          </a:p>
          <a:p>
            <a:pPr marL="228600" indent="-228600">
              <a:buAutoNum type="arabicPeriod"/>
            </a:pPr>
            <a:r>
              <a:rPr lang="en-US" dirty="0">
                <a:ea typeface="Calibri"/>
                <a:cs typeface="Calibri"/>
              </a:rPr>
              <a:t>Is there more </a:t>
            </a:r>
            <a:r>
              <a:rPr lang="en-US" dirty="0" err="1">
                <a:ea typeface="Calibri"/>
                <a:cs typeface="Calibri"/>
              </a:rPr>
              <a:t>english</a:t>
            </a:r>
            <a:r>
              <a:rPr lang="en-US" dirty="0">
                <a:ea typeface="Calibri"/>
                <a:cs typeface="Calibri"/>
              </a:rPr>
              <a:t> in hot 100 or global 200?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79DAA-901A-49C6-966C-F19D68B13426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3517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Classifying the lyrics based on boy vs girl groups </a:t>
            </a:r>
            <a:r>
              <a:rPr lang="en-US" dirty="0" err="1">
                <a:ea typeface="Calibri"/>
                <a:cs typeface="Calibri"/>
              </a:rPr>
              <a:t>revaled</a:t>
            </a:r>
            <a:r>
              <a:rPr lang="en-US" dirty="0">
                <a:ea typeface="Calibri"/>
                <a:cs typeface="Calibri"/>
              </a:rPr>
              <a:t> to us accuracy rates of 76% and 72%, in the hot 100 an global 200 with pretty good macro f1 recall too.</a:t>
            </a:r>
          </a:p>
          <a:p>
            <a:r>
              <a:rPr lang="en-US" dirty="0">
                <a:ea typeface="Calibri"/>
                <a:cs typeface="Calibri"/>
              </a:rPr>
              <a:t>We find that the handcrafted features did not yield any significant differences. But combined with textual features, we were able to show that there is a clear difference in the way boy act lyrics compared to girl 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79DAA-901A-49C6-966C-F19D68B13426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3787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From the statistical tests, we also found that there was not much </a:t>
            </a:r>
            <a:r>
              <a:rPr lang="en-US" dirty="0" err="1">
                <a:ea typeface="Calibri"/>
                <a:cs typeface="Calibri"/>
              </a:rPr>
              <a:t>singifcant</a:t>
            </a:r>
            <a:r>
              <a:rPr lang="en-US" dirty="0">
                <a:ea typeface="Calibri"/>
                <a:cs typeface="Calibri"/>
              </a:rPr>
              <a:t> differences in switches, with boy groups vs girl groups. Basically both acts code switch a 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79DAA-901A-49C6-966C-F19D68B13426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4473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But boy groups tend to slightly use more Korean whereas girl groups use more </a:t>
            </a:r>
            <a:r>
              <a:rPr lang="en-US" dirty="0" err="1">
                <a:ea typeface="Calibri"/>
                <a:cs typeface="Calibri"/>
              </a:rPr>
              <a:t>english</a:t>
            </a:r>
            <a:r>
              <a:rPr lang="en-US" dirty="0">
                <a:ea typeface="Calibri"/>
                <a:cs typeface="Calibri"/>
              </a:rPr>
              <a:t>. We cannot claim it with significance and need more data to confirm this claim.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However, female soloists on the other hand have songs that are </a:t>
            </a:r>
            <a:r>
              <a:rPr lang="en-US" dirty="0" err="1">
                <a:ea typeface="Calibri"/>
                <a:cs typeface="Calibri"/>
              </a:rPr>
              <a:t>english</a:t>
            </a:r>
            <a:r>
              <a:rPr lang="en-US" dirty="0">
                <a:ea typeface="Calibri"/>
                <a:cs typeface="Calibri"/>
              </a:rPr>
              <a:t>-heavy containing about 95% of the lyrics in </a:t>
            </a:r>
            <a:r>
              <a:rPr lang="en-US" dirty="0" err="1">
                <a:ea typeface="Calibri"/>
                <a:cs typeface="Calibri"/>
              </a:rPr>
              <a:t>english</a:t>
            </a:r>
            <a:r>
              <a:rPr lang="en-US" dirty="0">
                <a:ea typeface="Calibri"/>
                <a:cs typeface="Calibri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79DAA-901A-49C6-966C-F19D68B13426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3415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When it comes to how songs perform on the chart, boy groups tend to have more of a stable </a:t>
            </a:r>
            <a:r>
              <a:rPr lang="en-US" dirty="0" err="1">
                <a:ea typeface="Calibri"/>
                <a:cs typeface="Calibri"/>
              </a:rPr>
              <a:t>korean</a:t>
            </a:r>
            <a:r>
              <a:rPr lang="en-US" dirty="0">
                <a:ea typeface="Calibri"/>
                <a:cs typeface="Calibri"/>
              </a:rPr>
              <a:t> to </a:t>
            </a:r>
            <a:r>
              <a:rPr lang="en-US" dirty="0" err="1">
                <a:ea typeface="Calibri"/>
                <a:cs typeface="Calibri"/>
              </a:rPr>
              <a:t>english</a:t>
            </a:r>
            <a:r>
              <a:rPr lang="en-US" dirty="0">
                <a:ea typeface="Calibri"/>
                <a:cs typeface="Calibri"/>
              </a:rPr>
              <a:t> ratio compared to girl groups. There is generally no significant difference in the language ratio in both hot 100 an global 200.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On the other hand, Girl groups slightly trend towards more </a:t>
            </a:r>
            <a:r>
              <a:rPr lang="en-US" dirty="0" err="1">
                <a:ea typeface="Calibri"/>
                <a:cs typeface="Calibri"/>
              </a:rPr>
              <a:t>english</a:t>
            </a:r>
            <a:r>
              <a:rPr lang="en-US" dirty="0">
                <a:ea typeface="Calibri"/>
                <a:cs typeface="Calibri"/>
              </a:rPr>
              <a:t> on the English Centric Hot-100 chart, however not statistically significant. But this slight significance is worth studying in our future works. It shows a possibility that having more </a:t>
            </a:r>
            <a:r>
              <a:rPr lang="en-US" dirty="0" err="1">
                <a:ea typeface="Calibri"/>
                <a:cs typeface="Calibri"/>
              </a:rPr>
              <a:t>english</a:t>
            </a:r>
            <a:r>
              <a:rPr lang="en-US" dirty="0">
                <a:ea typeface="Calibri"/>
                <a:cs typeface="Calibri"/>
              </a:rPr>
              <a:t> could be a strategic push for US oriented releases.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79DAA-901A-49C6-966C-F19D68B13426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0452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An overview of the findings could be </a:t>
            </a:r>
            <a:r>
              <a:rPr lang="en-US" err="1">
                <a:ea typeface="Calibri"/>
                <a:cs typeface="Calibri"/>
              </a:rPr>
              <a:t>summarised</a:t>
            </a:r>
            <a:r>
              <a:rPr lang="en-US">
                <a:ea typeface="Calibri"/>
                <a:cs typeface="Calibri"/>
              </a:rPr>
              <a:t> as follows:</a:t>
            </a:r>
          </a:p>
          <a:p>
            <a:pPr marL="228600" indent="-228600">
              <a:buAutoNum type="arabicPeriod"/>
            </a:pPr>
            <a:r>
              <a:rPr lang="en-US">
                <a:ea typeface="Calibri"/>
                <a:cs typeface="Calibri"/>
              </a:rPr>
              <a:t>English exists significantly across gender and chart. That is very clear.</a:t>
            </a:r>
          </a:p>
          <a:p>
            <a:pPr marL="228600" indent="-228600">
              <a:buAutoNum type="arabicPeriod"/>
            </a:pPr>
            <a:r>
              <a:rPr lang="en-US">
                <a:ea typeface="Calibri"/>
                <a:cs typeface="Calibri"/>
              </a:rPr>
              <a:t>Most of the results in our work have not achieved statistical significance due to lack of variety of data and limited time period.</a:t>
            </a:r>
          </a:p>
          <a:p>
            <a:pPr marL="228600" indent="-228600">
              <a:buAutoNum type="arabicPeriod"/>
            </a:pPr>
            <a:r>
              <a:rPr lang="en-US" dirty="0">
                <a:ea typeface="Calibri"/>
                <a:cs typeface="Calibri"/>
              </a:rPr>
              <a:t>There is a strong stylistic similarity between both our control groups (</a:t>
            </a:r>
            <a:r>
              <a:rPr lang="en-US" dirty="0" err="1">
                <a:ea typeface="Calibri"/>
                <a:cs typeface="Calibri"/>
              </a:rPr>
              <a:t>i.e</a:t>
            </a:r>
            <a:r>
              <a:rPr lang="en-US" dirty="0">
                <a:ea typeface="Calibri"/>
                <a:cs typeface="Calibri"/>
              </a:rPr>
              <a:t> boy acts vs girl acts). English tends to be a global identity marker.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79DAA-901A-49C6-966C-F19D68B13426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2634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79DAA-901A-49C6-966C-F19D68B13426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912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Our contribution to the field of humanities and computational pop linguistics is that this is a first work in code switching in </a:t>
            </a:r>
            <a:r>
              <a:rPr lang="en-US" err="1">
                <a:ea typeface="Calibri"/>
                <a:cs typeface="Calibri"/>
              </a:rPr>
              <a:t>kpop</a:t>
            </a:r>
            <a:r>
              <a:rPr lang="en-US" dirty="0">
                <a:ea typeface="Calibri"/>
                <a:cs typeface="Calibri"/>
              </a:rPr>
              <a:t> and linking both </a:t>
            </a:r>
            <a:r>
              <a:rPr lang="en-US" err="1">
                <a:ea typeface="Calibri"/>
                <a:cs typeface="Calibri"/>
              </a:rPr>
              <a:t>linguisticis</a:t>
            </a:r>
            <a:r>
              <a:rPr lang="en-US">
                <a:ea typeface="Calibri"/>
                <a:cs typeface="Calibri"/>
              </a:rPr>
              <a:t> and billboard metrics and analytics.</a:t>
            </a:r>
          </a:p>
          <a:p>
            <a:r>
              <a:rPr lang="en-US" dirty="0">
                <a:ea typeface="Calibri"/>
                <a:cs typeface="Calibri"/>
              </a:rPr>
              <a:t>We also propose the first ever dataset of K-pop combining metrics and multilingual lyrics.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79DAA-901A-49C6-966C-F19D68B13426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3135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These are some limitations of our work. We are quite aware that we only study charting songs, so it is a bias we are aware of for this paper.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It is a small sample of songs that we are tracking and working with. So future works will involve more songs. Should not be a problem since we are having a Hallyu wave right now.</a:t>
            </a:r>
            <a:endParaRPr lang="en-US" dirty="0"/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We are not studying the audio-</a:t>
            </a:r>
            <a:r>
              <a:rPr lang="en-US" dirty="0" err="1">
                <a:ea typeface="Calibri"/>
                <a:cs typeface="Calibri"/>
              </a:rPr>
              <a:t>viusal</a:t>
            </a:r>
            <a:r>
              <a:rPr lang="en-US" dirty="0">
                <a:ea typeface="Calibri"/>
                <a:cs typeface="Calibri"/>
              </a:rPr>
              <a:t> aspects of </a:t>
            </a:r>
            <a:r>
              <a:rPr lang="en-US" dirty="0" err="1">
                <a:ea typeface="Calibri"/>
                <a:cs typeface="Calibri"/>
              </a:rPr>
              <a:t>kpop</a:t>
            </a:r>
            <a:r>
              <a:rPr lang="en-US" dirty="0">
                <a:ea typeface="Calibri"/>
                <a:cs typeface="Calibri"/>
              </a:rPr>
              <a:t>. This is a purely linguistic study. So, we cannot make observations about the visual and audio aspects of </a:t>
            </a:r>
            <a:r>
              <a:rPr lang="en-US" dirty="0" err="1">
                <a:ea typeface="Calibri"/>
                <a:cs typeface="Calibri"/>
              </a:rPr>
              <a:t>kpop</a:t>
            </a:r>
            <a:r>
              <a:rPr lang="en-US" dirty="0">
                <a:ea typeface="Calibri"/>
                <a:cs typeface="Calibri"/>
              </a:rPr>
              <a:t> in this work.</a:t>
            </a:r>
            <a:endParaRPr lang="en-US" dirty="0"/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In this work, we are aware we broke down the linguistic structure of </a:t>
            </a:r>
            <a:r>
              <a:rPr lang="en-US" dirty="0" err="1">
                <a:ea typeface="Calibri"/>
                <a:cs typeface="Calibri"/>
              </a:rPr>
              <a:t>korean</a:t>
            </a:r>
            <a:r>
              <a:rPr lang="en-US" dirty="0">
                <a:ea typeface="Calibri"/>
                <a:cs typeface="Calibri"/>
              </a:rPr>
              <a:t> to just words and phrases. This is something we are looking at working in the next version of our work with </a:t>
            </a:r>
            <a:r>
              <a:rPr lang="en-US" dirty="0" err="1">
                <a:ea typeface="Calibri"/>
                <a:cs typeface="Calibri"/>
              </a:rPr>
              <a:t>korean</a:t>
            </a:r>
            <a:r>
              <a:rPr lang="en-US" dirty="0">
                <a:ea typeface="Calibri"/>
                <a:cs typeface="Calibri"/>
              </a:rPr>
              <a:t> linguists.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79DAA-901A-49C6-966C-F19D68B13426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962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330EA680-D336-4FF7-8B7A-9848BB0A1C32}" type="slidenum">
              <a:rPr lang="en-US" smtClean="0"/>
              <a:t>‹N°›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798304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122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0EA680-D336-4FF7-8B7A-9848BB0A1C32}" type="slidenum">
              <a:rPr lang="en-US" smtClean="0"/>
              <a:t>‹N°›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4974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8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206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351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764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0EA680-D336-4FF7-8B7A-9848BB0A1C32}" type="slidenum">
              <a:rPr lang="en-US" smtClean="0"/>
              <a:t>‹N°›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98819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0EA680-D336-4FF7-8B7A-9848BB0A1C32}" type="slidenum">
              <a:rPr lang="en-US" smtClean="0"/>
              <a:t>‹N°›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9989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289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113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330EA680-D336-4FF7-8B7A-9848BB0A1C32}" type="slidenum">
              <a:rPr lang="en-US" smtClean="0"/>
              <a:t>‹N°›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828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sv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callmesanfornow.github.io" TargetMode="External"/><Relationship Id="rId2" Type="http://schemas.openxmlformats.org/officeDocument/2006/relationships/hyperlink" Target="mailto:asankaran@telecom-sudparis.eu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ECB0E0D-AC1B-4E83-84EA-237BFA206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6DCB3B1-E1A7-4510-831B-77C8EFF56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10132A3B-10CF-4EEB-BA1F-A63D2ED61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014E52ED-3C51-46E6-BE4B-14FFAB2C3D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33661" y="3536783"/>
            <a:ext cx="6400779" cy="1297439"/>
          </a:xfrm>
        </p:spPr>
        <p:txBody>
          <a:bodyPr anchor="ctr">
            <a:normAutofit/>
          </a:bodyPr>
          <a:lstStyle/>
          <a:p>
            <a:pPr algn="l"/>
            <a:r>
              <a:rPr lang="en-US" sz="2400" dirty="0"/>
              <a:t>Studying Code Switching</a:t>
            </a:r>
            <a:br>
              <a:rPr lang="en-US" sz="2400" dirty="0"/>
            </a:br>
            <a:r>
              <a:rPr lang="en-US" sz="2400" dirty="0"/>
              <a:t>in K-pop Hits on Billboard Charts</a:t>
            </a:r>
            <a:endParaRPr lang="en-US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16447" y="1612308"/>
            <a:ext cx="3233957" cy="3848522"/>
          </a:xfrm>
        </p:spPr>
        <p:txBody>
          <a:bodyPr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800" b="1" dirty="0"/>
              <a:t>Aditya Narayan Sankaran</a:t>
            </a:r>
            <a:endParaRPr lang="en-US" sz="1800" dirty="0"/>
          </a:p>
          <a:p>
            <a:pPr algn="l">
              <a:spcAft>
                <a:spcPts val="600"/>
              </a:spcAft>
            </a:pPr>
            <a:r>
              <a:rPr lang="en-US" sz="1800" dirty="0"/>
              <a:t>Reza </a:t>
            </a:r>
            <a:r>
              <a:rPr lang="en-US" sz="1800" dirty="0" err="1"/>
              <a:t>Farahbakhsh</a:t>
            </a:r>
            <a:endParaRPr lang="en-US" sz="1800" dirty="0"/>
          </a:p>
          <a:p>
            <a:pPr algn="l">
              <a:spcAft>
                <a:spcPts val="600"/>
              </a:spcAft>
            </a:pPr>
            <a:r>
              <a:rPr lang="en-US" sz="1800" dirty="0"/>
              <a:t>Noël Crespi</a:t>
            </a:r>
          </a:p>
          <a:p>
            <a:pPr algn="l">
              <a:spcAft>
                <a:spcPts val="600"/>
              </a:spcAft>
            </a:pPr>
            <a:endParaRPr lang="en-US" sz="1800" dirty="0"/>
          </a:p>
          <a:p>
            <a:pPr algn="l">
              <a:spcAft>
                <a:spcPts val="600"/>
              </a:spcAft>
            </a:pPr>
            <a:r>
              <a:rPr lang="en-US" sz="1800" dirty="0"/>
              <a:t>SAMOVAR, </a:t>
            </a:r>
            <a:r>
              <a:rPr lang="en-US" sz="1800" dirty="0" err="1"/>
              <a:t>Télécom</a:t>
            </a:r>
            <a:r>
              <a:rPr lang="en-US" sz="1800" dirty="0"/>
              <a:t> SudParis</a:t>
            </a:r>
          </a:p>
          <a:p>
            <a:pPr algn="l">
              <a:spcAft>
                <a:spcPts val="600"/>
              </a:spcAft>
            </a:pPr>
            <a:r>
              <a:rPr lang="en-US" sz="1800" dirty="0" err="1"/>
              <a:t>Institut</a:t>
            </a:r>
            <a:r>
              <a:rPr lang="en-US" sz="1800" dirty="0"/>
              <a:t> Polytechnique de Paris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116DDC6-8F07-46CC-8751-E5C9346B2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74964" y="2388358"/>
            <a:ext cx="0" cy="1856096"/>
          </a:xfrm>
          <a:prstGeom prst="line">
            <a:avLst/>
          </a:prstGeom>
          <a:ln w="25400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6E6D3EE-8DF7-D6C6-F70F-E3EA8FA99A84}"/>
              </a:ext>
            </a:extLst>
          </p:cNvPr>
          <p:cNvSpPr txBox="1"/>
          <p:nvPr/>
        </p:nvSpPr>
        <p:spPr>
          <a:xfrm>
            <a:off x="1210968" y="1234196"/>
            <a:ext cx="643144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Aptos Display" panose="020B0004020202020204" pitchFamily="34" charset="0"/>
              </a:rPr>
              <a:t>Global Beats,</a:t>
            </a:r>
          </a:p>
          <a:p>
            <a:r>
              <a:rPr lang="en-US" sz="7200" dirty="0">
                <a:latin typeface="Aptos Display" panose="020B0004020202020204" pitchFamily="34" charset="0"/>
              </a:rPr>
              <a:t>			Local Tongue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470B9D1-BAC1-CC33-9F4D-CBF93EFF171F}"/>
              </a:ext>
            </a:extLst>
          </p:cNvPr>
          <p:cNvGrpSpPr/>
          <p:nvPr/>
        </p:nvGrpSpPr>
        <p:grpSpPr>
          <a:xfrm>
            <a:off x="1227900" y="5165753"/>
            <a:ext cx="5154935" cy="939037"/>
            <a:chOff x="1208690" y="4832778"/>
            <a:chExt cx="5154935" cy="939037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713E20F-3700-C897-0BDA-2CEBA2C322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49297"/>
            <a:stretch>
              <a:fillRect/>
            </a:stretch>
          </p:blipFill>
          <p:spPr>
            <a:xfrm>
              <a:off x="1208690" y="4832778"/>
              <a:ext cx="4747173" cy="939037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180D635-3CF4-12CC-585C-38599A4D11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2505" t="54858" r="184"/>
            <a:stretch>
              <a:fillRect/>
            </a:stretch>
          </p:blipFill>
          <p:spPr>
            <a:xfrm>
              <a:off x="5541825" y="4834967"/>
              <a:ext cx="821800" cy="8360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15031-39FB-C516-D9B9-05B0DA4CC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CFD11-0F24-DB08-3FB4-6DFA35B55F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Background and Motivation</a:t>
            </a:r>
          </a:p>
          <a:p>
            <a:r>
              <a:rPr lang="en-US" dirty="0"/>
              <a:t>Code Switching vs Code Mixing</a:t>
            </a:r>
          </a:p>
          <a:p>
            <a:r>
              <a:rPr lang="en-US" dirty="0"/>
              <a:t>Data collection</a:t>
            </a:r>
          </a:p>
          <a:p>
            <a:r>
              <a:rPr lang="en-US" dirty="0"/>
              <a:t>Statistical Test</a:t>
            </a:r>
          </a:p>
          <a:p>
            <a:r>
              <a:rPr lang="en-US" dirty="0"/>
              <a:t>Conclusion and Future Direction</a:t>
            </a:r>
          </a:p>
        </p:txBody>
      </p:sp>
      <p:pic>
        <p:nvPicPr>
          <p:cNvPr id="5" name="Graphic 4" descr="Vertical logo for Télécom SudParis (white)">
            <a:extLst>
              <a:ext uri="{FF2B5EF4-FFF2-40B4-BE49-F238E27FC236}">
                <a16:creationId xmlns:a16="http://schemas.microsoft.com/office/drawing/2014/main" id="{C528DB5D-A2F7-DB11-4E56-076CFA6864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35951" y="307077"/>
            <a:ext cx="581025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9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F1772DF-AD08-2B62-FD13-8FC65A6A1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Background and Motivation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7FC26B-200F-7D30-A8CA-69C513C67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Graphic 2" descr="Vertical logo for Télécom SudParis (white)">
            <a:extLst>
              <a:ext uri="{FF2B5EF4-FFF2-40B4-BE49-F238E27FC236}">
                <a16:creationId xmlns:a16="http://schemas.microsoft.com/office/drawing/2014/main" id="{C2250466-43D6-0705-40D2-5ECF9977AA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5951" y="307077"/>
            <a:ext cx="581025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2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k-pop trio">
            <a:extLst>
              <a:ext uri="{FF2B5EF4-FFF2-40B4-BE49-F238E27FC236}">
                <a16:creationId xmlns:a16="http://schemas.microsoft.com/office/drawing/2014/main" id="{254DF7FA-CCB0-A96B-F53E-72E11B15A2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49462" y="1332381"/>
            <a:ext cx="7450032" cy="4195549"/>
          </a:xfrm>
          <a:prstGeom prst="rect">
            <a:avLst/>
          </a:prstGeom>
        </p:spPr>
      </p:pic>
      <p:pic>
        <p:nvPicPr>
          <p:cNvPr id="3" name="Graphic 2" descr="Vertical logo for Télécom SudParis (white)">
            <a:extLst>
              <a:ext uri="{FF2B5EF4-FFF2-40B4-BE49-F238E27FC236}">
                <a16:creationId xmlns:a16="http://schemas.microsoft.com/office/drawing/2014/main" id="{AF40549C-901A-766C-1D76-229B87761C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35951" y="307077"/>
            <a:ext cx="581025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132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0E6EF-83BE-FF26-0E64-71BD5AB84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CD8357AC-E77E-E0FE-7AF8-752CDB45C1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10437" y="414718"/>
            <a:ext cx="3249789" cy="3581400"/>
          </a:xfrm>
          <a:prstGeom prst="rect">
            <a:avLst/>
          </a:prstGeom>
        </p:spPr>
      </p:pic>
      <p:pic>
        <p:nvPicPr>
          <p:cNvPr id="6" name="Picture 5" descr="A screenshot of a website&#10;&#10;AI-generated content may be incorrect.">
            <a:extLst>
              <a:ext uri="{FF2B5EF4-FFF2-40B4-BE49-F238E27FC236}">
                <a16:creationId xmlns:a16="http://schemas.microsoft.com/office/drawing/2014/main" id="{43AF575E-8DAE-8E0A-3B9A-63CF853959E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523" r="-139" b="39303"/>
          <a:stretch>
            <a:fillRect/>
          </a:stretch>
        </p:blipFill>
        <p:spPr>
          <a:xfrm>
            <a:off x="1573550" y="4772120"/>
            <a:ext cx="5558176" cy="1713039"/>
          </a:xfrm>
          <a:prstGeom prst="rect">
            <a:avLst/>
          </a:prstGeom>
        </p:spPr>
      </p:pic>
      <p:pic>
        <p:nvPicPr>
          <p:cNvPr id="7" name="Picture 6" descr="A cartoon of a person in a garment&#10;&#10;AI-generated content may be incorrect.">
            <a:extLst>
              <a:ext uri="{FF2B5EF4-FFF2-40B4-BE49-F238E27FC236}">
                <a16:creationId xmlns:a16="http://schemas.microsoft.com/office/drawing/2014/main" id="{BD180D39-23BD-FEA7-A4E5-3FF0752712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4701" y="416790"/>
            <a:ext cx="5667567" cy="4638964"/>
          </a:xfrm>
          <a:prstGeom prst="rect">
            <a:avLst/>
          </a:prstGeom>
        </p:spPr>
      </p:pic>
      <p:pic>
        <p:nvPicPr>
          <p:cNvPr id="8" name="Graphic 7" descr="Vertical logo for Télécom SudParis (white)">
            <a:extLst>
              <a:ext uri="{FF2B5EF4-FFF2-40B4-BE49-F238E27FC236}">
                <a16:creationId xmlns:a16="http://schemas.microsoft.com/office/drawing/2014/main" id="{941A3C87-CF4E-623F-EAF1-0272167C2C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35951" y="307077"/>
            <a:ext cx="581025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250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and black text&#10;&#10;AI-generated content may be incorrect.">
            <a:extLst>
              <a:ext uri="{FF2B5EF4-FFF2-40B4-BE49-F238E27FC236}">
                <a16:creationId xmlns:a16="http://schemas.microsoft.com/office/drawing/2014/main" id="{8D2CB49C-8EA4-78CC-9FE8-1BF7F7504F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212" y="335153"/>
            <a:ext cx="6311516" cy="3524541"/>
          </a:xfrm>
          <a:prstGeom prst="rect">
            <a:avLst/>
          </a:prstGeom>
        </p:spPr>
      </p:pic>
      <p:pic>
        <p:nvPicPr>
          <p:cNvPr id="5" name="Picture 4" descr="A screenshot of a website&#10;&#10;AI-generated content may be incorrect.">
            <a:extLst>
              <a:ext uri="{FF2B5EF4-FFF2-40B4-BE49-F238E27FC236}">
                <a16:creationId xmlns:a16="http://schemas.microsoft.com/office/drawing/2014/main" id="{6AA089A1-CD2C-DA19-28F0-2DDC442C9C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2727" y="3267885"/>
            <a:ext cx="6419273" cy="3131624"/>
          </a:xfrm>
          <a:prstGeom prst="rect">
            <a:avLst/>
          </a:prstGeom>
        </p:spPr>
      </p:pic>
      <p:pic>
        <p:nvPicPr>
          <p:cNvPr id="3" name="Graphic 2" descr="Vertical logo for Télécom SudParis (white)">
            <a:extLst>
              <a:ext uri="{FF2B5EF4-FFF2-40B4-BE49-F238E27FC236}">
                <a16:creationId xmlns:a16="http://schemas.microsoft.com/office/drawing/2014/main" id="{06512CEE-A00C-F548-C210-95405D1635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35951" y="307077"/>
            <a:ext cx="581025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435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69C085D-C9F9-0CDE-5896-3351FE4DB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Rise of K-pop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CD645D-DED2-8752-155E-83F351D9B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Rapid expansion into Western markets (Hot 100, Global 200).</a:t>
            </a:r>
          </a:p>
          <a:p>
            <a:r>
              <a:rPr lang="en-US" dirty="0"/>
              <a:t>Increasing visibility of multilingual lyrics (Korean + English).</a:t>
            </a:r>
          </a:p>
          <a:p>
            <a:r>
              <a:rPr lang="en-US" dirty="0"/>
              <a:t>English used for “global vibe,” fun indexing, fan connection.</a:t>
            </a:r>
          </a:p>
          <a:p>
            <a:r>
              <a:rPr lang="en-US" dirty="0"/>
              <a:t>Music videos + sonic experimentation → global appeal.</a:t>
            </a:r>
          </a:p>
        </p:txBody>
      </p:sp>
      <p:pic>
        <p:nvPicPr>
          <p:cNvPr id="3" name="Graphic 2" descr="Vertical logo for Télécom SudParis (white)">
            <a:extLst>
              <a:ext uri="{FF2B5EF4-FFF2-40B4-BE49-F238E27FC236}">
                <a16:creationId xmlns:a16="http://schemas.microsoft.com/office/drawing/2014/main" id="{9E48A56D-A0D3-625D-A5AF-8B641EDB13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35951" y="307077"/>
            <a:ext cx="581025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357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53F0D-4C52-3EC1-DCE1-D7D904CC0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D4C63D-DF66-E2D6-9527-2F81D25F2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Study Code-Switching in K-pop?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375BA4-2FD9-3A8A-C3FF-69C8C3227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83540" indent="-383540"/>
            <a:r>
              <a:rPr lang="en-US" dirty="0"/>
              <a:t>English–Korean code switching has become a norm, not an exception.</a:t>
            </a:r>
          </a:p>
          <a:p>
            <a:pPr lvl="1" indent="-383540"/>
            <a:r>
              <a:rPr lang="en-US" dirty="0">
                <a:ea typeface="+mn-lt"/>
                <a:cs typeface="+mn-lt"/>
              </a:rPr>
              <a:t>Frequent code-switch events (≈17–25 per song depending on groups/solo acts)</a:t>
            </a:r>
            <a:endParaRPr lang="en-US" i="0" dirty="0"/>
          </a:p>
          <a:p>
            <a:pPr marL="383540" indent="-383540"/>
            <a:r>
              <a:rPr lang="en-US" dirty="0"/>
              <a:t>Lack of </a:t>
            </a:r>
            <a:r>
              <a:rPr lang="en-US" b="1" dirty="0"/>
              <a:t>computational </a:t>
            </a:r>
            <a:r>
              <a:rPr lang="en-US" dirty="0"/>
              <a:t>analysis of this phenomenon.</a:t>
            </a:r>
          </a:p>
          <a:p>
            <a:pPr marL="383540" indent="-383540"/>
            <a:r>
              <a:rPr lang="en-US" b="1" dirty="0"/>
              <a:t>Research questions:</a:t>
            </a:r>
          </a:p>
          <a:p>
            <a:pPr lvl="1" indent="-383540"/>
            <a:r>
              <a:rPr lang="en-US" dirty="0"/>
              <a:t>Do male vs. female performers differ in English/Korean usage?</a:t>
            </a:r>
          </a:p>
          <a:p>
            <a:pPr lvl="1" indent="-383540"/>
            <a:r>
              <a:rPr lang="en-US" dirty="0"/>
              <a:t>Does code-switching differ by gender or chart type?</a:t>
            </a:r>
          </a:p>
          <a:p>
            <a:pPr lvl="1" indent="-383540"/>
            <a:r>
              <a:rPr lang="en-US" dirty="0"/>
              <a:t>Can performer gender be predicted purely from lyrics?</a:t>
            </a:r>
          </a:p>
        </p:txBody>
      </p:sp>
      <p:pic>
        <p:nvPicPr>
          <p:cNvPr id="3" name="Graphic 2" descr="Vertical logo for Télécom SudParis (white)">
            <a:extLst>
              <a:ext uri="{FF2B5EF4-FFF2-40B4-BE49-F238E27FC236}">
                <a16:creationId xmlns:a16="http://schemas.microsoft.com/office/drawing/2014/main" id="{97FE6EFA-C16D-2AEE-F70F-E5217FECF1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35951" y="307077"/>
            <a:ext cx="581025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084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7EF9B-0F0E-EA9C-4584-1755BB12A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5CDF00F-4729-4A88-532C-8F6B4BBF0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Switching vs Code Mixing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9838E1-3F5E-5832-4933-548C5B7FC0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Graphic 2" descr="Vertical logo for Télécom SudParis (white)">
            <a:extLst>
              <a:ext uri="{FF2B5EF4-FFF2-40B4-BE49-F238E27FC236}">
                <a16:creationId xmlns:a16="http://schemas.microsoft.com/office/drawing/2014/main" id="{7CCA9BF7-62A5-904B-C1BC-30C0959A3A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5951" y="307077"/>
            <a:ext cx="581025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045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55483-1180-5B43-3B39-BF7A8209B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56CEA5-2190-2247-98BF-1C3461C91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D3F06F2-B244-85B7-D44A-FA04C804D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83540" indent="-383540"/>
            <a:r>
              <a:rPr lang="en-US" dirty="0"/>
              <a:t>Code-Switching (CS)</a:t>
            </a:r>
            <a:endParaRPr lang="en-US"/>
          </a:p>
          <a:p>
            <a:pPr lvl="1" indent="-383540"/>
            <a:r>
              <a:rPr lang="en-US" dirty="0"/>
              <a:t>Alternating between languages at boundaries (line, phrase, clause).</a:t>
            </a:r>
          </a:p>
          <a:p>
            <a:pPr marL="383540" indent="-383540"/>
            <a:r>
              <a:rPr lang="en-US" dirty="0"/>
              <a:t>Code-Mixing</a:t>
            </a:r>
          </a:p>
          <a:p>
            <a:pPr lvl="1" indent="-383540"/>
            <a:r>
              <a:rPr lang="en-US" dirty="0"/>
              <a:t>Blending languages within phrases/words.</a:t>
            </a:r>
          </a:p>
          <a:p>
            <a:pPr lvl="1" indent="-383540"/>
            <a:endParaRPr lang="en-US" dirty="0"/>
          </a:p>
          <a:p>
            <a:pPr marL="383540" indent="-383540"/>
            <a:r>
              <a:rPr lang="en-US" dirty="0"/>
              <a:t>K-pop lyrics typically show:</a:t>
            </a:r>
          </a:p>
          <a:p>
            <a:pPr lvl="1" indent="-383540"/>
            <a:r>
              <a:rPr lang="en-US" dirty="0"/>
              <a:t>Inter-sentential switching (“Korean verse → English pre-chorus”)</a:t>
            </a:r>
          </a:p>
          <a:p>
            <a:pPr lvl="1" indent="-383540"/>
            <a:r>
              <a:rPr lang="en-US" dirty="0"/>
              <a:t>Intra-sentential switching (“Hangul + English words together”)</a:t>
            </a:r>
          </a:p>
          <a:p>
            <a:pPr lvl="1" indent="-383540"/>
            <a:r>
              <a:rPr lang="en-US" dirty="0"/>
              <a:t>Tag-switching (“baby,” “yeah,” “okay,” “let’s go”)</a:t>
            </a:r>
          </a:p>
        </p:txBody>
      </p:sp>
      <p:pic>
        <p:nvPicPr>
          <p:cNvPr id="3" name="Graphic 2" descr="Vertical logo for Télécom SudParis (white)">
            <a:extLst>
              <a:ext uri="{FF2B5EF4-FFF2-40B4-BE49-F238E27FC236}">
                <a16:creationId xmlns:a16="http://schemas.microsoft.com/office/drawing/2014/main" id="{3B272A39-F2D3-0F37-BB66-5B00EB22AA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35951" y="307077"/>
            <a:ext cx="581025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1782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F26E1-DF98-8963-5AFD-19C70BF6F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4" name="Picture 3" descr="A close up of text&#10;&#10;AI-generated content may be incorrect.">
            <a:extLst>
              <a:ext uri="{FF2B5EF4-FFF2-40B4-BE49-F238E27FC236}">
                <a16:creationId xmlns:a16="http://schemas.microsoft.com/office/drawing/2014/main" id="{818D6E81-149F-5C8F-B808-A76CE219B8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5818" y="1712271"/>
            <a:ext cx="8990061" cy="4803520"/>
          </a:xfrm>
          <a:prstGeom prst="rect">
            <a:avLst/>
          </a:prstGeom>
        </p:spPr>
      </p:pic>
      <p:pic>
        <p:nvPicPr>
          <p:cNvPr id="5" name="Graphic 4" descr="Vertical logo for Télécom SudParis (white)">
            <a:extLst>
              <a:ext uri="{FF2B5EF4-FFF2-40B4-BE49-F238E27FC236}">
                <a16:creationId xmlns:a16="http://schemas.microsoft.com/office/drawing/2014/main" id="{BA8FED35-9D35-7C04-75E4-38A1ECC860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35951" y="307077"/>
            <a:ext cx="581025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5227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6DE92-FA54-D55E-2155-DAB08BB4D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CS Matters for K-pop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1D39A-0A52-5470-47E1-7DCBC80EC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for rhythm, emphasis, hooks.</a:t>
            </a:r>
          </a:p>
          <a:p>
            <a:r>
              <a:rPr lang="en-US" dirty="0"/>
              <a:t>English often marks “global-ness.”</a:t>
            </a:r>
          </a:p>
          <a:p>
            <a:r>
              <a:rPr lang="en-US" dirty="0"/>
              <a:t>Can influence chart performance and cultural indexing.</a:t>
            </a:r>
          </a:p>
        </p:txBody>
      </p:sp>
      <p:pic>
        <p:nvPicPr>
          <p:cNvPr id="5" name="Graphic 4" descr="Vertical logo for Télécom SudParis (white)">
            <a:extLst>
              <a:ext uri="{FF2B5EF4-FFF2-40B4-BE49-F238E27FC236}">
                <a16:creationId xmlns:a16="http://schemas.microsoft.com/office/drawing/2014/main" id="{E182CD1C-F0D4-30F7-A9CF-DC95DF567B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35951" y="307077"/>
            <a:ext cx="581025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1563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EA76A-5095-3122-122B-D1646129C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047AE04-03C5-A5C4-72C0-76D2DB07D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Collection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ABA89F-7E00-A514-FB94-32A582F684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Graphic 2" descr="Vertical logo for Télécom SudParis (white)">
            <a:extLst>
              <a:ext uri="{FF2B5EF4-FFF2-40B4-BE49-F238E27FC236}">
                <a16:creationId xmlns:a16="http://schemas.microsoft.com/office/drawing/2014/main" id="{CE95E9A0-B990-2AED-EBCE-EC1B812D7D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5951" y="307077"/>
            <a:ext cx="581025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2413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DA0DF-654B-4DFE-89A5-C1DEEF040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DC05763-B4DF-188D-7726-8152A3718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Artist &amp; Song Selection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BC6391-03C2-CD03-5B5C-2A1134745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83540" indent="-383540"/>
            <a:r>
              <a:rPr lang="en-US" dirty="0"/>
              <a:t>Time period: Jan 2017 – May 2025.</a:t>
            </a:r>
            <a:endParaRPr lang="en-US"/>
          </a:p>
          <a:p>
            <a:pPr marL="383540" indent="-383540"/>
            <a:r>
              <a:rPr lang="en-US" dirty="0"/>
              <a:t>Sources:</a:t>
            </a:r>
          </a:p>
          <a:p>
            <a:pPr lvl="1" indent="-383540"/>
            <a:r>
              <a:rPr lang="en-US" dirty="0"/>
              <a:t>Lyrics → Genius (via </a:t>
            </a:r>
            <a:r>
              <a:rPr lang="en-US" dirty="0" err="1"/>
              <a:t>LyricsGenius</a:t>
            </a:r>
            <a:r>
              <a:rPr lang="en-US" dirty="0"/>
              <a:t>).</a:t>
            </a:r>
          </a:p>
          <a:p>
            <a:pPr lvl="1" indent="-383540"/>
            <a:r>
              <a:rPr lang="en-US" dirty="0"/>
              <a:t>Chart data → Billboard Hot 100 + Global 200.</a:t>
            </a:r>
          </a:p>
          <a:p>
            <a:pPr marL="383540" indent="-383540"/>
            <a:r>
              <a:rPr lang="en-US" dirty="0"/>
              <a:t>22 artists total:</a:t>
            </a:r>
          </a:p>
          <a:p>
            <a:pPr lvl="1" indent="-383540"/>
            <a:r>
              <a:rPr lang="en-US" dirty="0"/>
              <a:t>Groups: 7 female, 4 male</a:t>
            </a:r>
          </a:p>
          <a:p>
            <a:pPr lvl="1" indent="-383540"/>
            <a:r>
              <a:rPr lang="en-US" dirty="0"/>
              <a:t>Soloists: 4 female, 6 male</a:t>
            </a:r>
          </a:p>
          <a:p>
            <a:pPr marL="383540" indent="-383540"/>
            <a:r>
              <a:rPr lang="en-US" dirty="0"/>
              <a:t>All songs the artists had on either chart (hot 100 or global 200) were retrieved.</a:t>
            </a:r>
          </a:p>
        </p:txBody>
      </p:sp>
      <p:pic>
        <p:nvPicPr>
          <p:cNvPr id="3" name="Graphic 2" descr="Vertical logo for Télécom SudParis (white)">
            <a:extLst>
              <a:ext uri="{FF2B5EF4-FFF2-40B4-BE49-F238E27FC236}">
                <a16:creationId xmlns:a16="http://schemas.microsoft.com/office/drawing/2014/main" id="{CAEA0938-D623-0102-8935-E3FDB1CE2E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35951" y="307077"/>
            <a:ext cx="581025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5604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34321-F087-E015-9D07-791B40CAF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Construction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048AF-90BE-7F15-BEE7-4B7E94C90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Final dataset includes:</a:t>
            </a:r>
          </a:p>
          <a:p>
            <a:pPr lvl="1"/>
            <a:r>
              <a:rPr lang="en-US" dirty="0"/>
              <a:t>Title</a:t>
            </a:r>
          </a:p>
          <a:p>
            <a:pPr lvl="1"/>
            <a:r>
              <a:rPr lang="en-US" dirty="0"/>
              <a:t>Artist gender (M/F)</a:t>
            </a:r>
          </a:p>
          <a:p>
            <a:pPr lvl="1"/>
            <a:r>
              <a:rPr lang="en-US" dirty="0"/>
              <a:t>Category (Group/Solo)</a:t>
            </a:r>
          </a:p>
          <a:p>
            <a:pPr lvl="1"/>
            <a:r>
              <a:rPr lang="en-US" dirty="0"/>
              <a:t>Peak position</a:t>
            </a:r>
          </a:p>
          <a:p>
            <a:pPr lvl="1"/>
            <a:r>
              <a:rPr lang="en-US" dirty="0"/>
              <a:t>Weeks on chart</a:t>
            </a:r>
          </a:p>
          <a:p>
            <a:pPr lvl="1"/>
            <a:r>
              <a:rPr lang="en-US" dirty="0"/>
              <a:t>Chart trajectory (time series)</a:t>
            </a:r>
          </a:p>
          <a:p>
            <a:pPr lvl="1"/>
            <a:r>
              <a:rPr lang="en-US" dirty="0"/>
              <a:t>Raw + cleaned lyrics</a:t>
            </a:r>
          </a:p>
          <a:p>
            <a:r>
              <a:rPr lang="en-US" dirty="0"/>
              <a:t>Separate files for Hot 100 and Global 200.</a:t>
            </a:r>
          </a:p>
        </p:txBody>
      </p:sp>
      <p:pic>
        <p:nvPicPr>
          <p:cNvPr id="5" name="Graphic 4" descr="Vertical logo for Télécom SudParis (white)">
            <a:extLst>
              <a:ext uri="{FF2B5EF4-FFF2-40B4-BE49-F238E27FC236}">
                <a16:creationId xmlns:a16="http://schemas.microsoft.com/office/drawing/2014/main" id="{FE3401F0-96B3-A30E-AFDA-CC6CAC60B1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5951" y="307077"/>
            <a:ext cx="581025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3254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541C4-EE2A-E5F8-A629-3D080F821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Stats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79689-617C-0634-0093-43E69B4875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83540" indent="-383540"/>
            <a:r>
              <a:rPr lang="en-US" dirty="0"/>
              <a:t>Most represented:</a:t>
            </a:r>
            <a:endParaRPr lang="en-US"/>
          </a:p>
          <a:p>
            <a:pPr lvl="1" indent="-383540"/>
            <a:r>
              <a:rPr lang="en-US" dirty="0"/>
              <a:t>BTS (29 songs), BLACKPINK (24).</a:t>
            </a:r>
          </a:p>
          <a:p>
            <a:pPr marL="383540" indent="-383540"/>
            <a:r>
              <a:rPr lang="en-US" dirty="0"/>
              <a:t>Soloists:</a:t>
            </a:r>
          </a:p>
          <a:p>
            <a:pPr lvl="1" indent="-383540"/>
            <a:r>
              <a:rPr lang="en-US" dirty="0"/>
              <a:t>V (15), Jungkook (14), Jennie (14).</a:t>
            </a:r>
          </a:p>
          <a:p>
            <a:pPr marL="383540" indent="-383540"/>
            <a:r>
              <a:rPr lang="en-US" dirty="0"/>
              <a:t>Nearly all artists appear on Global 200; </a:t>
            </a:r>
          </a:p>
        </p:txBody>
      </p:sp>
      <p:pic>
        <p:nvPicPr>
          <p:cNvPr id="5" name="Graphic 4" descr="Vertical logo for Télécom SudParis (white)">
            <a:extLst>
              <a:ext uri="{FF2B5EF4-FFF2-40B4-BE49-F238E27FC236}">
                <a16:creationId xmlns:a16="http://schemas.microsoft.com/office/drawing/2014/main" id="{DC6A1F75-F84A-1EE7-76F6-05307DA981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5951" y="307077"/>
            <a:ext cx="581025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3279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32EE7-B004-38DF-4298-9DCCD624E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8FAE2D-655E-D497-DADF-C4805C718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Tests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E7C024-7C34-126D-6FBF-42EF272311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Graphic 2" descr="Vertical logo for Télécom SudParis (white)">
            <a:extLst>
              <a:ext uri="{FF2B5EF4-FFF2-40B4-BE49-F238E27FC236}">
                <a16:creationId xmlns:a16="http://schemas.microsoft.com/office/drawing/2014/main" id="{E6FDCF4A-6C89-213B-5B29-E8DF8725B6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5951" y="307077"/>
            <a:ext cx="581025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1614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CE900-71C4-6ED7-6B05-29CAC3D77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C1F0D4-5C8E-6D6B-AE51-AAD37922F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Engineering for classification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04502CA-5BD2-74DC-3289-4EDCB968C0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83540" indent="-383540"/>
            <a:r>
              <a:rPr lang="en-US" dirty="0"/>
              <a:t>Korean Lyric Ratio</a:t>
            </a:r>
            <a:endParaRPr lang="en-US"/>
          </a:p>
          <a:p>
            <a:pPr marL="383540" indent="-383540"/>
            <a:r>
              <a:rPr lang="en-US" dirty="0"/>
              <a:t>English Lyric Ratio</a:t>
            </a:r>
          </a:p>
          <a:p>
            <a:pPr marL="383540" indent="-383540"/>
            <a:r>
              <a:rPr lang="en-US" dirty="0"/>
              <a:t>Code-switch count</a:t>
            </a:r>
          </a:p>
          <a:p>
            <a:pPr marL="383540" indent="-383540"/>
            <a:r>
              <a:rPr lang="en-US" dirty="0"/>
              <a:t>Repetition count</a:t>
            </a:r>
          </a:p>
          <a:p>
            <a:pPr marL="383540" indent="-383540"/>
            <a:r>
              <a:rPr lang="en-US" dirty="0"/>
              <a:t>Alliteration</a:t>
            </a:r>
          </a:p>
          <a:p>
            <a:pPr marL="383540" indent="-383540"/>
            <a:r>
              <a:rPr lang="en-US" dirty="0"/>
              <a:t>Filler words (“oh,” “yeah,” “la,” etc.)</a:t>
            </a:r>
          </a:p>
          <a:p>
            <a:pPr marL="383540" indent="-383540"/>
            <a:r>
              <a:rPr lang="en-US" dirty="0"/>
              <a:t>Combined with multilingual embeddings for the classification task.</a:t>
            </a:r>
          </a:p>
        </p:txBody>
      </p:sp>
      <p:pic>
        <p:nvPicPr>
          <p:cNvPr id="3" name="Graphic 2" descr="Vertical logo for Télécom SudParis (white)">
            <a:extLst>
              <a:ext uri="{FF2B5EF4-FFF2-40B4-BE49-F238E27FC236}">
                <a16:creationId xmlns:a16="http://schemas.microsoft.com/office/drawing/2014/main" id="{43E13D64-4F3A-EB1F-7D55-C666AD8570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35951" y="307077"/>
            <a:ext cx="581025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2667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93B65-937D-7E50-96B6-4660C220A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71922-4C77-4594-1A45-558470353D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83540" indent="-383540"/>
            <a:r>
              <a:rPr lang="en-US" dirty="0"/>
              <a:t>Normality check → Shapiro–Wilk</a:t>
            </a:r>
          </a:p>
          <a:p>
            <a:pPr lvl="1" indent="-383540">
              <a:buFont typeface="Courier New" panose="020B0503020102020204" pitchFamily="34" charset="0"/>
              <a:buChar char="o"/>
            </a:pPr>
            <a:r>
              <a:rPr lang="en-US" i="0" dirty="0"/>
              <a:t>This revealed that most features were non-normal.</a:t>
            </a:r>
          </a:p>
          <a:p>
            <a:pPr marL="383540" indent="-383540"/>
            <a:r>
              <a:rPr lang="en-US" dirty="0"/>
              <a:t>Welch’s t-test</a:t>
            </a:r>
          </a:p>
          <a:p>
            <a:pPr lvl="1" indent="-383540">
              <a:buFont typeface="Courier New" panose="020B0503020102020204" pitchFamily="34" charset="0"/>
              <a:buChar char="o"/>
            </a:pPr>
            <a:r>
              <a:rPr lang="en-US" i="0" dirty="0"/>
              <a:t>This test showed us unequal variance.</a:t>
            </a:r>
          </a:p>
          <a:p>
            <a:pPr marL="383540" indent="-383540"/>
            <a:r>
              <a:rPr lang="en-US" dirty="0"/>
              <a:t>Proceeded with a Mann–Whitney U for a nonparametric test.</a:t>
            </a:r>
          </a:p>
          <a:p>
            <a:pPr marL="383540" indent="-383540"/>
            <a:r>
              <a:rPr lang="en-US" dirty="0"/>
              <a:t>Set the Significance threshold to </a:t>
            </a:r>
            <a:r>
              <a:rPr lang="el-GR" dirty="0"/>
              <a:t>α = 0.05.</a:t>
            </a:r>
            <a:endParaRPr lang="en-US" dirty="0"/>
          </a:p>
        </p:txBody>
      </p:sp>
      <p:pic>
        <p:nvPicPr>
          <p:cNvPr id="5" name="Graphic 4" descr="Vertical logo for Télécom SudParis (white)">
            <a:extLst>
              <a:ext uri="{FF2B5EF4-FFF2-40B4-BE49-F238E27FC236}">
                <a16:creationId xmlns:a16="http://schemas.microsoft.com/office/drawing/2014/main" id="{42F4C6F2-3FA0-11C3-5A1A-CEFEBF142E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35951" y="307077"/>
            <a:ext cx="581025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5732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2AC75-7A28-9290-B841-9D9D6AC52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Hypotheses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4943B-42C5-A6FD-03DB-08096E31C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Boy vs. Girl Groups → English/Korean ratio differences?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Gender differences in number of code-switches?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Soloists vs groups?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Hot 100 vs Global 200 linguistic differences?</a:t>
            </a:r>
          </a:p>
        </p:txBody>
      </p:sp>
      <p:pic>
        <p:nvPicPr>
          <p:cNvPr id="5" name="Graphic 4" descr="Vertical logo for Télécom SudParis (white)">
            <a:extLst>
              <a:ext uri="{FF2B5EF4-FFF2-40B4-BE49-F238E27FC236}">
                <a16:creationId xmlns:a16="http://schemas.microsoft.com/office/drawing/2014/main" id="{D7FEF55D-E129-16C6-775F-8F129C3E93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35951" y="307077"/>
            <a:ext cx="581025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0490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CFEBD-E3D6-9BEF-9DC0-001C32A27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C6F6C-9080-B5DA-76FE-6E446BF9D4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Graphic 4" descr="Vertical logo for Télécom SudParis (white)">
            <a:extLst>
              <a:ext uri="{FF2B5EF4-FFF2-40B4-BE49-F238E27FC236}">
                <a16:creationId xmlns:a16="http://schemas.microsoft.com/office/drawing/2014/main" id="{46D34747-7254-97BB-8F6A-65F844A825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5951" y="307077"/>
            <a:ext cx="581025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3183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4669C-A56E-929F-D18E-A25AFC9F1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E3573-9F9F-D5AC-598A-164AF11AD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 —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0CC83-89EA-D76E-CDAE-F475685645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83540" indent="-383540"/>
            <a:r>
              <a:rPr lang="en-US" dirty="0"/>
              <a:t>Boy vs girl groups:</a:t>
            </a:r>
            <a:endParaRPr lang="en-US"/>
          </a:p>
          <a:p>
            <a:pPr lvl="1" indent="-383540"/>
            <a:r>
              <a:rPr lang="en-US" dirty="0"/>
              <a:t>Hot 100: </a:t>
            </a:r>
            <a:r>
              <a:rPr lang="en-US" i="0" dirty="0">
                <a:ea typeface="+mn-lt"/>
                <a:cs typeface="+mn-lt"/>
              </a:rPr>
              <a:t>76% accuracy and a macro F1-score of 0.76</a:t>
            </a:r>
          </a:p>
          <a:p>
            <a:pPr lvl="1" indent="-383540"/>
            <a:r>
              <a:rPr lang="en-US" dirty="0"/>
              <a:t>Global 200: </a:t>
            </a:r>
            <a:r>
              <a:rPr lang="en-US" i="0" dirty="0">
                <a:ea typeface="+mn-lt"/>
                <a:cs typeface="+mn-lt"/>
              </a:rPr>
              <a:t>72% accuracy and a macro F1-score of 0.71. </a:t>
            </a:r>
          </a:p>
          <a:p>
            <a:pPr marL="383540" indent="-383540"/>
            <a:r>
              <a:rPr lang="en-US" dirty="0"/>
              <a:t>Conclusion</a:t>
            </a:r>
          </a:p>
          <a:p>
            <a:pPr lvl="1" indent="-383540"/>
            <a:r>
              <a:rPr lang="en-US" i="0" dirty="0">
                <a:ea typeface="+mn-lt"/>
                <a:cs typeface="+mn-lt"/>
              </a:rPr>
              <a:t>Although individual linguistic features (such as the Korean lyric ratio) did not yield significant differences across genders, their combination with learned representations allowed models to predict performer gender at a level significantly above chance.</a:t>
            </a:r>
            <a:endParaRPr lang="en-US" i="0" dirty="0"/>
          </a:p>
        </p:txBody>
      </p:sp>
      <p:pic>
        <p:nvPicPr>
          <p:cNvPr id="5" name="Graphic 4" descr="Vertical logo for Télécom SudParis (white)">
            <a:extLst>
              <a:ext uri="{FF2B5EF4-FFF2-40B4-BE49-F238E27FC236}">
                <a16:creationId xmlns:a16="http://schemas.microsoft.com/office/drawing/2014/main" id="{6972F161-6413-6665-EC93-7C0DCA31FD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35951" y="307077"/>
            <a:ext cx="581025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2631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84B06-5237-696D-E94B-1B4AB37FD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 — Code-Switching Frequency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F0FE4-C90D-C755-DED9-1EE8549D6C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Boy vs girl groups:</a:t>
            </a:r>
          </a:p>
          <a:p>
            <a:pPr lvl="1"/>
            <a:r>
              <a:rPr lang="en-US" dirty="0"/>
              <a:t>Hot 100: 19.05 vs 16.96 switches → NOT significant.</a:t>
            </a:r>
          </a:p>
          <a:p>
            <a:pPr lvl="1"/>
            <a:r>
              <a:rPr lang="en-US" dirty="0"/>
              <a:t>Global 200: 20.57 vs 25.32 → NOT significant.</a:t>
            </a:r>
          </a:p>
          <a:p>
            <a:r>
              <a:rPr lang="en-US" dirty="0"/>
              <a:t>Conclusion: High code-switching across all categories; gender doesn’t matter.</a:t>
            </a:r>
          </a:p>
        </p:txBody>
      </p:sp>
      <p:pic>
        <p:nvPicPr>
          <p:cNvPr id="5" name="Graphic 4" descr="Vertical logo for Télécom SudParis (white)">
            <a:extLst>
              <a:ext uri="{FF2B5EF4-FFF2-40B4-BE49-F238E27FC236}">
                <a16:creationId xmlns:a16="http://schemas.microsoft.com/office/drawing/2014/main" id="{DBC51B00-4A16-4700-CB68-51A7FF3914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35951" y="307077"/>
            <a:ext cx="581025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9898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AE3B8-7E3B-E649-F396-92E57A589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 — Korean vs English Ratio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9C87F-E95E-EDFD-91A6-E919FE8BF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83540" indent="-383540"/>
            <a:r>
              <a:rPr lang="en-US" dirty="0"/>
              <a:t>Trend:</a:t>
            </a:r>
            <a:endParaRPr lang="en-US"/>
          </a:p>
          <a:p>
            <a:pPr lvl="1" indent="-383540"/>
            <a:r>
              <a:rPr lang="en-US" dirty="0"/>
              <a:t>Boy groups use </a:t>
            </a:r>
            <a:r>
              <a:rPr lang="en-US" b="1" dirty="0"/>
              <a:t>slightly </a:t>
            </a:r>
            <a:r>
              <a:rPr lang="en-US" dirty="0"/>
              <a:t>more Korean.</a:t>
            </a:r>
          </a:p>
          <a:p>
            <a:pPr lvl="1" indent="-383540"/>
            <a:r>
              <a:rPr lang="en-US" dirty="0"/>
              <a:t>Girl groups use </a:t>
            </a:r>
            <a:r>
              <a:rPr lang="en-US" b="1" dirty="0"/>
              <a:t>slightly </a:t>
            </a:r>
            <a:r>
              <a:rPr lang="en-US" dirty="0"/>
              <a:t>more English.</a:t>
            </a:r>
          </a:p>
          <a:p>
            <a:pPr marL="383540" indent="-383540"/>
            <a:r>
              <a:rPr lang="en-US" dirty="0"/>
              <a:t>But Mann–Whitney: NOT statistically significant, therefore we need more data and variety of groups to study on.</a:t>
            </a:r>
          </a:p>
          <a:p>
            <a:pPr marL="383540" indent="-383540"/>
            <a:r>
              <a:rPr lang="en-US" dirty="0"/>
              <a:t>Female soloists, however, are far more English-heavy in their songs (generally &gt;95% in some tracks).</a:t>
            </a:r>
          </a:p>
        </p:txBody>
      </p:sp>
      <p:pic>
        <p:nvPicPr>
          <p:cNvPr id="5" name="Graphic 4" descr="Vertical logo for Télécom SudParis (white)">
            <a:extLst>
              <a:ext uri="{FF2B5EF4-FFF2-40B4-BE49-F238E27FC236}">
                <a16:creationId xmlns:a16="http://schemas.microsoft.com/office/drawing/2014/main" id="{8E36515F-4CE0-B330-4B7F-6653FB781C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35951" y="307077"/>
            <a:ext cx="581025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4419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62E10-148E-FE3D-C618-415B67CEF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Chart Context Effects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3E9B1-5230-349F-C720-4E2893584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83540" indent="-383540"/>
            <a:r>
              <a:rPr lang="en-US" dirty="0"/>
              <a:t>Boy groups: No difference Hot100 vs G200 → stable Korean ratio.</a:t>
            </a:r>
            <a:endParaRPr lang="en-US"/>
          </a:p>
          <a:p>
            <a:pPr marL="383540" indent="-383540"/>
            <a:r>
              <a:rPr lang="en-US" dirty="0"/>
              <a:t>Girl groups: Slight trend toward more English on Hot 100 (however not statistically significant).</a:t>
            </a:r>
          </a:p>
          <a:p>
            <a:pPr lvl="1" indent="-383540"/>
            <a:r>
              <a:rPr lang="en-US" dirty="0"/>
              <a:t>Hot 100 is a US-centric chart.</a:t>
            </a:r>
          </a:p>
          <a:p>
            <a:pPr lvl="1" indent="-383540"/>
            <a:r>
              <a:rPr lang="en-US" dirty="0"/>
              <a:t>This could suggest a strategic push for English usage for U.S.-oriented releases.</a:t>
            </a:r>
            <a:endParaRPr lang="en-US"/>
          </a:p>
        </p:txBody>
      </p:sp>
      <p:pic>
        <p:nvPicPr>
          <p:cNvPr id="5" name="Graphic 4" descr="Vertical logo for Télécom SudParis (white)">
            <a:extLst>
              <a:ext uri="{FF2B5EF4-FFF2-40B4-BE49-F238E27FC236}">
                <a16:creationId xmlns:a16="http://schemas.microsoft.com/office/drawing/2014/main" id="{2A6BE64A-E8A4-FD10-B6C8-06324EBE12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35951" y="307077"/>
            <a:ext cx="581025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4721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35D86-9975-7DF5-F210-29D9D5858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45092-DD29-D54A-441D-E3CFEB72B8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83540" indent="-383540"/>
            <a:r>
              <a:rPr lang="en-US" dirty="0"/>
              <a:t>English dominance consistent across gender and chart.</a:t>
            </a:r>
            <a:endParaRPr lang="en-US"/>
          </a:p>
          <a:p>
            <a:pPr marL="383540" indent="-383540"/>
            <a:r>
              <a:rPr lang="en-US" dirty="0"/>
              <a:t>Trends exist but lack statistical power due to less data and limited time period.</a:t>
            </a:r>
          </a:p>
          <a:p>
            <a:pPr marL="383540" indent="-383540"/>
            <a:r>
              <a:rPr lang="en-US" dirty="0"/>
              <a:t>Strong stylistic similarity across groups → English as a global identity marker.</a:t>
            </a:r>
          </a:p>
        </p:txBody>
      </p:sp>
      <p:pic>
        <p:nvPicPr>
          <p:cNvPr id="5" name="Graphic 4" descr="Vertical logo for Télécom SudParis (white)">
            <a:extLst>
              <a:ext uri="{FF2B5EF4-FFF2-40B4-BE49-F238E27FC236}">
                <a16:creationId xmlns:a16="http://schemas.microsoft.com/office/drawing/2014/main" id="{2E2FFF8C-2CA2-46B9-167D-8724A3A5D2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35951" y="307077"/>
            <a:ext cx="581025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4561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5C289-F788-2565-73AA-15D0A1FA4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53DF94A-5C2F-7C0F-7FBD-27BD9D0A6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and Future Directions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CA4AAB-026E-B160-1888-D0E91EDCFC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Graphic 2" descr="Vertical logo for Télécom SudParis (white)">
            <a:extLst>
              <a:ext uri="{FF2B5EF4-FFF2-40B4-BE49-F238E27FC236}">
                <a16:creationId xmlns:a16="http://schemas.microsoft.com/office/drawing/2014/main" id="{AD51CFDF-5D0B-F7D6-30E8-5AE4D314DE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5951" y="307077"/>
            <a:ext cx="581025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7809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71246-3931-020E-4EF3-FFDB901A0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77020A-5F9F-F533-1B07-CD5E2BB7C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Takeaways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24E5CED-6C0C-D145-78E5-9F97EDEFF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English has become a dominant linguistic component of global K-pop.</a:t>
            </a:r>
          </a:p>
          <a:p>
            <a:r>
              <a:rPr lang="en-US" dirty="0"/>
              <a:t>Both male and female acts code-switch heavily and frequently.</a:t>
            </a:r>
          </a:p>
          <a:p>
            <a:r>
              <a:rPr lang="en-US" dirty="0"/>
              <a:t>Gender differences in language ratio exist but are not statistically significant.</a:t>
            </a:r>
          </a:p>
          <a:p>
            <a:r>
              <a:rPr lang="en-US" dirty="0"/>
              <a:t>Classification models achieve up to 76% macro F1, showing latent stylistic cues exist beyond raw language ratios.</a:t>
            </a:r>
          </a:p>
        </p:txBody>
      </p:sp>
      <p:pic>
        <p:nvPicPr>
          <p:cNvPr id="3" name="Graphic 2" descr="Vertical logo for Télécom SudParis (white)">
            <a:extLst>
              <a:ext uri="{FF2B5EF4-FFF2-40B4-BE49-F238E27FC236}">
                <a16:creationId xmlns:a16="http://schemas.microsoft.com/office/drawing/2014/main" id="{448A003A-6113-FBA3-0BED-81690387A9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35951" y="307077"/>
            <a:ext cx="581025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4067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0D24C-F0AC-2BC0-4421-FE6F67507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9C811-8749-AC13-C0AC-A05A83055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83540" indent="-383540"/>
            <a:r>
              <a:rPr lang="en-US" dirty="0"/>
              <a:t>First computational analysis linking:</a:t>
            </a:r>
            <a:endParaRPr lang="en-US"/>
          </a:p>
          <a:p>
            <a:pPr lvl="1" indent="-383540"/>
            <a:r>
              <a:rPr lang="en-US" dirty="0"/>
              <a:t>Code-switching</a:t>
            </a:r>
          </a:p>
          <a:p>
            <a:pPr lvl="1" indent="-383540"/>
            <a:r>
              <a:rPr lang="en-US" dirty="0"/>
              <a:t>Billboard chart context</a:t>
            </a:r>
          </a:p>
          <a:p>
            <a:pPr marL="383540" indent="-383540"/>
            <a:r>
              <a:rPr lang="en-US" dirty="0"/>
              <a:t>Novel dataset combining chart metadata + multilingual lyrics.</a:t>
            </a:r>
          </a:p>
        </p:txBody>
      </p:sp>
      <p:pic>
        <p:nvPicPr>
          <p:cNvPr id="5" name="Graphic 4" descr="Vertical logo for Télécom SudParis (white)">
            <a:extLst>
              <a:ext uri="{FF2B5EF4-FFF2-40B4-BE49-F238E27FC236}">
                <a16:creationId xmlns:a16="http://schemas.microsoft.com/office/drawing/2014/main" id="{46787022-58AA-DC2C-69B2-54C9D320D6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35951" y="307077"/>
            <a:ext cx="581025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4585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A6B77-8D80-D44B-4463-877FD7130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65465-9D51-9251-6694-F15DF9C4E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Only internationally successful songs → bias.</a:t>
            </a:r>
          </a:p>
          <a:p>
            <a:r>
              <a:rPr lang="en-US" dirty="0"/>
              <a:t>Small sample size.</a:t>
            </a:r>
          </a:p>
          <a:p>
            <a:r>
              <a:rPr lang="en-US" dirty="0"/>
              <a:t>No audio/visual context (important for K-pop’s multimodality).</a:t>
            </a:r>
          </a:p>
          <a:p>
            <a:r>
              <a:rPr lang="en-US" dirty="0"/>
              <a:t>Simplifies linguistic structure of Korean.</a:t>
            </a:r>
          </a:p>
        </p:txBody>
      </p:sp>
      <p:pic>
        <p:nvPicPr>
          <p:cNvPr id="5" name="Graphic 4" descr="Vertical logo for Télécom SudParis (white)">
            <a:extLst>
              <a:ext uri="{FF2B5EF4-FFF2-40B4-BE49-F238E27FC236}">
                <a16:creationId xmlns:a16="http://schemas.microsoft.com/office/drawing/2014/main" id="{1AAB5A76-B2A1-7E11-507D-0114991D77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35951" y="307077"/>
            <a:ext cx="581025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3522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63670-1B89-2EA2-8E81-E477EFCED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A0F89-51D6-5C0F-D369-673000853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Expand dataset (domestic charts, pre-2017, smaller agencies).</a:t>
            </a:r>
          </a:p>
          <a:p>
            <a:r>
              <a:rPr lang="en-US" dirty="0"/>
              <a:t>Include multimodal features (audio, choreography, MV aesthetics).</a:t>
            </a:r>
          </a:p>
          <a:p>
            <a:r>
              <a:rPr lang="en-US" dirty="0"/>
              <a:t>Chart-success prediction using linguistic + non-linguistic features.</a:t>
            </a:r>
          </a:p>
          <a:p>
            <a:r>
              <a:rPr lang="en-US" dirty="0"/>
              <a:t>Collaboration with Korean linguists for deeper semantic analysis.</a:t>
            </a:r>
          </a:p>
          <a:p>
            <a:r>
              <a:rPr lang="en-US" dirty="0"/>
              <a:t>Temporal analysis: English rise over time.</a:t>
            </a:r>
          </a:p>
          <a:p>
            <a:r>
              <a:rPr lang="en-US" dirty="0"/>
              <a:t>Listener reception analysis across markets.</a:t>
            </a:r>
          </a:p>
        </p:txBody>
      </p:sp>
      <p:pic>
        <p:nvPicPr>
          <p:cNvPr id="5" name="Graphic 4" descr="Vertical logo for Télécom SudParis (white)">
            <a:extLst>
              <a:ext uri="{FF2B5EF4-FFF2-40B4-BE49-F238E27FC236}">
                <a16:creationId xmlns:a16="http://schemas.microsoft.com/office/drawing/2014/main" id="{5D51015E-71F7-76A1-5063-161AC11C5C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5951" y="307077"/>
            <a:ext cx="581025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4747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62D6F-CFD8-02FB-40F2-EFE2EA41B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4BADD5-EF8E-38F3-190C-2C677AE75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8" y="1160000"/>
            <a:ext cx="8361229" cy="2098226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6A1CFCD2-4A75-5A80-8E61-1775C0B32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1514" y="3429949"/>
            <a:ext cx="9062683" cy="108623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/>
              <a:t>Send me an email or dog pictures or playlists </a:t>
            </a:r>
          </a:p>
          <a:p>
            <a:r>
              <a:rPr lang="en-US" sz="2800" dirty="0">
                <a:latin typeface="Courier New"/>
                <a:cs typeface="Courier New"/>
                <a:hlinkClick r:id="rId2"/>
              </a:rPr>
              <a:t>asankaran@telecom-sudparis.eu</a:t>
            </a:r>
            <a:endParaRPr lang="en-US" sz="2800" dirty="0">
              <a:latin typeface="Courier New"/>
              <a:cs typeface="Courier New"/>
            </a:endParaRPr>
          </a:p>
          <a:p>
            <a:r>
              <a:rPr lang="en-US" sz="2800" dirty="0">
                <a:latin typeface="Courier New"/>
                <a:cs typeface="Courier New"/>
                <a:hlinkClick r:id="rId3"/>
              </a:rPr>
              <a:t>https://callmesanfornow.github.io</a:t>
            </a:r>
            <a:endParaRPr lang="en-US" sz="2800" dirty="0">
              <a:latin typeface="Courier New"/>
              <a:cs typeface="Courier New"/>
            </a:endParaRPr>
          </a:p>
          <a:p>
            <a:endParaRPr lang="en-US" sz="2800" dirty="0">
              <a:latin typeface="Courier New"/>
              <a:cs typeface="Courier New"/>
            </a:endParaRPr>
          </a:p>
        </p:txBody>
      </p:sp>
      <p:pic>
        <p:nvPicPr>
          <p:cNvPr id="5" name="Graphic 4" descr="Vertical logo for Télécom SudParis (white)">
            <a:extLst>
              <a:ext uri="{FF2B5EF4-FFF2-40B4-BE49-F238E27FC236}">
                <a16:creationId xmlns:a16="http://schemas.microsoft.com/office/drawing/2014/main" id="{CC520F49-B2B4-D12C-B6F5-1F9976DC1F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35951" y="307077"/>
            <a:ext cx="581025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712354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3658</TotalTime>
  <Words>2527</Words>
  <Application>Microsoft Macintosh PowerPoint</Application>
  <PresentationFormat>Grand écran</PresentationFormat>
  <Paragraphs>239</Paragraphs>
  <Slides>32</Slides>
  <Notes>22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32</vt:i4>
      </vt:variant>
    </vt:vector>
  </HeadingPairs>
  <TitlesOfParts>
    <vt:vector size="38" baseType="lpstr">
      <vt:lpstr>Aptos Display</vt:lpstr>
      <vt:lpstr>Arial</vt:lpstr>
      <vt:lpstr>Calibri</vt:lpstr>
      <vt:lpstr>Courier New</vt:lpstr>
      <vt:lpstr>Franklin Gothic Book</vt:lpstr>
      <vt:lpstr>Crop</vt:lpstr>
      <vt:lpstr>Studying Code Switching in K-pop Hits on Billboard Charts</vt:lpstr>
      <vt:lpstr>Outline</vt:lpstr>
      <vt:lpstr>Background and Motivation</vt:lpstr>
      <vt:lpstr>Présentation PowerPoint</vt:lpstr>
      <vt:lpstr>Présentation PowerPoint</vt:lpstr>
      <vt:lpstr>Présentation PowerPoint</vt:lpstr>
      <vt:lpstr>Global Rise of K-pop</vt:lpstr>
      <vt:lpstr>Why Study Code-Switching in K-pop?</vt:lpstr>
      <vt:lpstr>Code Switching vs Code Mixing</vt:lpstr>
      <vt:lpstr>Definitions</vt:lpstr>
      <vt:lpstr>Example</vt:lpstr>
      <vt:lpstr>Why CS Matters for K-pop</vt:lpstr>
      <vt:lpstr>Data Collection</vt:lpstr>
      <vt:lpstr>Artist &amp; Song Selection</vt:lpstr>
      <vt:lpstr>Dataset Construction</vt:lpstr>
      <vt:lpstr>Dataset Stats</vt:lpstr>
      <vt:lpstr>Statistical Tests</vt:lpstr>
      <vt:lpstr>Feature Engineering for classification</vt:lpstr>
      <vt:lpstr>Statistical Methods</vt:lpstr>
      <vt:lpstr>Key Hypotheses</vt:lpstr>
      <vt:lpstr>Findings</vt:lpstr>
      <vt:lpstr>Findings — Classification</vt:lpstr>
      <vt:lpstr>Findings — Code-Switching Frequency</vt:lpstr>
      <vt:lpstr>Findings — Korean vs English Ratio</vt:lpstr>
      <vt:lpstr>Chart Context Effects</vt:lpstr>
      <vt:lpstr>Interpretation</vt:lpstr>
      <vt:lpstr>Conclusion and Future Directions</vt:lpstr>
      <vt:lpstr>Main Takeaways</vt:lpstr>
      <vt:lpstr>Contributions</vt:lpstr>
      <vt:lpstr>Limitations</vt:lpstr>
      <vt:lpstr>Future Work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Aditya Narayan</cp:lastModifiedBy>
  <cp:revision>680</cp:revision>
  <dcterms:created xsi:type="dcterms:W3CDTF">2025-11-05T10:36:53Z</dcterms:created>
  <dcterms:modified xsi:type="dcterms:W3CDTF">2026-09-30T12:01:56Z</dcterms:modified>
</cp:coreProperties>
</file>